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c:v>
                </c:pt>
              </c:strCache>
            </c:strRef>
          </c:tx>
          <c:spPr>
            <a:solidFill>
              <a:srgbClr val="E5484D"/>
            </a:solidFill>
          </c:spPr>
          <c:cat>
            <c:strRef>
              <c:f>Sheet1!$A$2:$A$7</c:f>
              <c:strCache>
                <c:ptCount val="6"/>
                <c:pt idx="0">
                  <c:v>CUSTOMERS</c:v>
                </c:pt>
                <c:pt idx="1">
                  <c:v>INVENTORY</c:v>
                </c:pt>
                <c:pt idx="2">
                  <c:v>PAYMENTS</c:v>
                </c:pt>
                <c:pt idx="3">
                  <c:v>PRODUCTS</c:v>
                </c:pt>
                <c:pt idx="4">
                  <c:v>ORDERS</c:v>
                </c:pt>
                <c:pt idx="5">
                  <c:v>OVERALL</c:v>
                </c:pt>
              </c:strCache>
            </c:strRef>
          </c:cat>
          <c:val>
            <c:numRef>
              <c:f>Sheet1!$B$2:$B$7</c:f>
              <c:numCache>
                <c:formatCode>General</c:formatCode>
                <c:ptCount val="6"/>
                <c:pt idx="0">
                  <c:v>51</c:v>
                </c:pt>
                <c:pt idx="1">
                  <c:v>55</c:v>
                </c:pt>
                <c:pt idx="2">
                  <c:v>64</c:v>
                </c:pt>
                <c:pt idx="3">
                  <c:v>68</c:v>
                </c:pt>
                <c:pt idx="4">
                  <c:v>72</c:v>
                </c:pt>
                <c:pt idx="5">
                  <c:v>62</c:v>
                </c:pt>
              </c:numCache>
            </c:numRef>
          </c:val>
        </c:ser>
        <c:ser>
          <c:idx val="1"/>
          <c:order val="1"/>
          <c:tx>
            <c:strRef>
              <c:f>Sheet1!$C$1</c:f>
              <c:strCache>
                <c:ptCount val="1"/>
                <c:pt idx="0">
                  <c:v>After</c:v>
                </c:pt>
              </c:strCache>
            </c:strRef>
          </c:tx>
          <c:spPr>
            <a:solidFill>
              <a:srgbClr val="29B5E8"/>
            </a:solidFill>
          </c:spPr>
          <c:cat>
            <c:strRef>
              <c:f>Sheet1!$A$2:$A$7</c:f>
              <c:strCache>
                <c:ptCount val="6"/>
                <c:pt idx="0">
                  <c:v>CUSTOMERS</c:v>
                </c:pt>
                <c:pt idx="1">
                  <c:v>INVENTORY</c:v>
                </c:pt>
                <c:pt idx="2">
                  <c:v>PAYMENTS</c:v>
                </c:pt>
                <c:pt idx="3">
                  <c:v>PRODUCTS</c:v>
                </c:pt>
                <c:pt idx="4">
                  <c:v>ORDERS</c:v>
                </c:pt>
                <c:pt idx="5">
                  <c:v>OVERALL</c:v>
                </c:pt>
              </c:strCache>
            </c:strRef>
          </c:cat>
          <c:val>
            <c:numRef>
              <c:f>Sheet1!$C$2:$C$7</c:f>
              <c:numCache>
                <c:formatCode>General</c:formatCode>
                <c:ptCount val="6"/>
                <c:pt idx="0">
                  <c:v>100</c:v>
                </c:pt>
                <c:pt idx="1">
                  <c:v>100</c:v>
                </c:pt>
                <c:pt idx="2">
                  <c:v>100</c:v>
                </c:pt>
                <c:pt idx="3">
                  <c:v>100</c:v>
                </c:pt>
                <c:pt idx="4">
                  <c:v>100</c:v>
                </c:pt>
                <c:pt idx="5">
                  <c:v>100</c:v>
                </c:pt>
              </c:numCache>
            </c:numRef>
          </c:val>
        </c:ser>
        <c:dLbls>
          <c:txPr>
            <a:bodyPr/>
            <a:lstStyle/>
            <a:p>
              <a:pPr>
                <a:defRPr sz="1200" b="1">
                  <a:solidFill>
                    <a:srgbClr val="0B2545"/>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D6E2EE"/>
            </a:solidFill>
          </a:ln>
        </c:spPr>
        <c:txPr>
          <a:bodyPr/>
          <a:lstStyle/>
          <a:p>
            <a:pPr>
              <a:defRPr sz="1200" b="1">
                <a:solidFill>
                  <a:srgbClr val="0B2545"/>
                </a:solidFill>
              </a:defRPr>
            </a:pPr>
          </a:p>
        </c:txPr>
        <c:crossAx val="-2113994440"/>
        <c:crosses val="autoZero"/>
        <c:auto val="1"/>
        <c:lblAlgn val="ctr"/>
        <c:lblOffset val="100"/>
        <c:noMultiLvlLbl val="0"/>
      </c:catAx>
      <c:valAx>
        <c:axId val="-2113994440"/>
        <c:scaling>
          <c:max val="110.0"/>
          <c:min val="0.0"/>
        </c:scaling>
        <c:delete val="0"/>
        <c:axPos val="l"/>
        <c:majorGridlines>
          <c:spPr>
            <a:ln>
              <a:solidFill>
                <a:srgbClr val="D6E2EE"/>
              </a:solidFill>
            </a:ln>
          </c:spPr>
        </c:majorGridlines>
        <c:majorTickMark val="out"/>
        <c:minorTickMark val="none"/>
        <c:tickLblPos val="nextTo"/>
        <c:spPr>
          <a:ln>
            <a:noFill/>
          </a:ln>
        </c:spPr>
        <c:txPr>
          <a:bodyPr/>
          <a:lstStyle/>
          <a:p>
            <a:pPr>
              <a:defRPr sz="1100">
                <a:solidFill>
                  <a:srgbClr val="5B6B7F"/>
                </a:solidFill>
              </a:defRPr>
            </a:pPr>
          </a:p>
        </c:txPr>
        <c:crossAx val="-2068027336"/>
        <c:crosses val="autoZero"/>
        <c:majorUnit val="25.0"/>
      </c:valAx>
    </c:plotArea>
    <c:legend>
      <c:legendPos val="t"/>
      <c:overlay val="0"/>
      <c:txPr>
        <a:bodyPr/>
        <a:lstStyle/>
        <a:p>
          <a:pPr>
            <a:defRPr sz="1300">
              <a:solidFill>
                <a:srgbClr val="1F2D3D"/>
              </a:solidFill>
            </a:defRPr>
          </a:pPr>
        </a:p>
      </c:txPr>
    </c:legend>
    <c:dispBlanksAs val="gap"/>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Biswajit Jena, and this is my solo entry for CoCo Quest 2026, Theme 1: Agentic Data Quality Guardian. GuardianAI is an autonomous data steward that runs entirely inside Snowflake. It detects, explains, fixes and validates data quality issues across five related tables. It only stops to ask a human before applying a risky fix. The number to remember is on the right: the overall data trust score goes from 62 to about 100 once fixes are approved. In the next few minutes I'll show how it works, why it's agentic, and how it stays safe.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Bad data rarely fails loudly. Duplicate customers inflate reports. Orphan orders and payments corrupt revenue attribution. Invalid emails waste marketing spend, and negative prices distort margins. Most data quality tools detect these issues and stop there. A person still has to find the root cause, judge the business impact, write the fix and prove it worked. That manual loop doesn't scale as data grows, and it doesn't run continuously. That's the gap GuardianAI closes.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GuardianAI is a chain of specialised agents, orchestrated by native Snowflake Tasks, that runs the whole loop: detect, score, rebuild the plan, explain, assess impact, approve, remediate, validate and govern. The amber step is the only place a human is needed. What makes it agentic rather than a script: each agent has a distinct role and reasons over the previous agent's output. The Validation Agent independently re-checks the remediation. The pipeline rebuilds its own fix plan when new issues appear. And the system decides its own next step, including when to stop and ask a human.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natively in Snowflake, with no external services. Data arrives through a Snowsight upload or a landing stage, and Streams capture the new rows. Five related retail tables form the data layer. A Task DAG runs the agent pipeline: Observer, Health Scorer, Plan Builder, then the Cortex-powered Diagnosis, Impact and Executive Summary agents. After that comes the human approval gate, then Remediate, Validate and Govern. A five-page Streamlit-in-Snowflake app is the window into all of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nine agents. The blue rows use Snowflake Cortex, with mistral-large2 through CORTEX.COMPLETE, for the work that needs language and reasoning: root cause, business impact and an executive summary. The Remediation Agent pairs deterministic fix SQL with Cortex narration, and attaches a confidence score, a risk level and an approval flag to every fix. Detection, scoring, validation and governance are deterministic SQL. That's the design principle on the banner: SQL detects and executes so everything is auditable. AI only reasons and explains, and a human approves anything risky.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naive score subtracts a flat penalty per issue type, so a ten-row table and a million-row table look the same. GuardianAI's Health Scorer is volume-aware. Each issue costs a fixed presence penalty by severity, plus a volume multiplier times the percentage of rows affected. Table health is 100 minus the total penalty, floored at zero, and the overall score is the average across the five tables. In practice, a critical issue on 2% of rows costs 11 points, while a low issue on the same rows costs 1.6. Big, mostly-clean tables are rewarded, but a structural breach like an orphan key still hurts even at low volume.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I think sets GuardianAI apart. Most data quality checks look at one table at a time. GuardianAI also checks relationships across the five tables. Orphan orders have a customer that doesn't exist. Orphan payments point to an order that doesn't exist. Payment amount mismatches are payments that don't equal the order they belong to. Orphan inventory is stock for a product that doesn't exist. These are exactly the issues that silently break revenue reporting, and you can't see them from a single table.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Orchestration is event-driven and uses only native Snowflake: six Streams, seven Tasks and eighteen stored procedures. Loop A is fully automatic. When a file lands, a Stream captures the new rows and the Task DAG runs detect, score, rebuild plan and analyse, and the dashboard updates. Loop B is human-gated and never fires on its own. Only when a user clicks Approve does it remediate, validate and write to the governance log. Tasks are gated on SYSTEM$STREAM_HAS_DATA, so when nothing has changed they're a cheap no-op, which protects credits.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Autonomy is only useful if it's safe, so Responsible AI is built into the architecture, not added on. Every high-risk fix needs explicit human approval. Bad rows are quarantined, never deleted. The fix SQL is deterministic and reviewable, so no AI-generated code runs blindly. Remediation is stream-safe: deduplication uses truncate-and-insert rather than dropping tables. Every action, by an agent or a human, is written to the governance log on the right, with an actor and a timestamp.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results on the full dataset: about 1,000 customers, 5,000 orders, 500 products, 4,500 payments and 500 inventory rows, with a known set of injected issues so the run is reproducible. Before remediation, scores ranged from 51 for CUSTOMERS to 72 for ORDERS, for an overall score of 62. After one approval, every table recovers to 100 and the overall score reaches about 100. All five tables move from high to low business risk. No row is deleted: each one is either deduplicated or quarantined, and every step is in the audit 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system is visible through a five-page Streamlit-in-Snowflake app. The Overview shows the live trust score and per-table risk, including the before-and-after view. Findings Explorer lists every issue, filterable by severity and table. AI Investigation shows the Cortex-generated root cause and business impact for each issue. Remediation Center is where the proposed fix, its confidence and its risk are shown, and where a human approves it. The Governance Log, which we saw earlier, is the audit trail. One click on Approve all and run remediation, and the overall score climbs to about 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GuardianAI is built entirely on native Snowflake. Cortex handles reasoning, Streams and Tasks handle event-driven orchestration, stored procedures implement the agents, and Streamlit in Snowflake is the front end. Nothing leaves the platform. Next on the roadmap: scheduled autonomous scans with Slack or Teams alerts on new critical issues, severity weights learned from historical approvals, and data contracts that prevent bad data upstream instead of only repairing it. Thank you. I'm Biswajit Jena, and I'm happy to take questions or walk through a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20040" y="0"/>
            <a:ext cx="73152" cy="6858000"/>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914400" y="914400"/>
            <a:ext cx="4572000" cy="384048"/>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CoCo Quest 2026  |  Theme 1: Agentic Data Quality Guardian</a:t>
            </a:r>
          </a:p>
        </p:txBody>
      </p:sp>
      <p:sp>
        <p:nvSpPr>
          <p:cNvPr id="5" name="TextBox 4"/>
          <p:cNvSpPr txBox="1"/>
          <p:nvPr/>
        </p:nvSpPr>
        <p:spPr>
          <a:xfrm>
            <a:off x="868680" y="1508760"/>
            <a:ext cx="6949440" cy="1005840"/>
          </a:xfrm>
          <a:prstGeom prst="rect">
            <a:avLst/>
          </a:prstGeom>
          <a:noFill/>
        </p:spPr>
        <p:txBody>
          <a:bodyPr wrap="square" anchor="t" lIns="73152" rIns="73152" tIns="36576" bIns="36576">
            <a:spAutoFit/>
          </a:bodyPr>
          <a:lstStyle/>
          <a:p>
            <a:pPr algn="l">
              <a:lnSpc>
                <a:spcPct val="110000"/>
              </a:lnSpc>
            </a:pPr>
            <a:r>
              <a:rPr sz="6600" b="1" i="0">
                <a:solidFill>
                  <a:srgbClr val="0B2545"/>
                </a:solidFill>
                <a:latin typeface="Calibri"/>
              </a:rPr>
              <a:t>Guardian</a:t>
            </a:r>
            <a:r>
              <a:rPr sz="6600" b="1" i="0">
                <a:solidFill>
                  <a:srgbClr val="29B5E8"/>
                </a:solidFill>
                <a:latin typeface="Calibri"/>
              </a:rPr>
              <a:t>AI</a:t>
            </a:r>
          </a:p>
        </p:txBody>
      </p:sp>
      <p:sp>
        <p:nvSpPr>
          <p:cNvPr id="6" name="TextBox 5"/>
          <p:cNvSpPr txBox="1"/>
          <p:nvPr/>
        </p:nvSpPr>
        <p:spPr>
          <a:xfrm>
            <a:off x="914400" y="2606040"/>
            <a:ext cx="6766560" cy="548640"/>
          </a:xfrm>
          <a:prstGeom prst="rect">
            <a:avLst/>
          </a:prstGeom>
          <a:noFill/>
        </p:spPr>
        <p:txBody>
          <a:bodyPr wrap="square" anchor="t" lIns="73152" rIns="73152" tIns="36576" bIns="36576">
            <a:spAutoFit/>
          </a:bodyPr>
          <a:lstStyle/>
          <a:p>
            <a:pPr algn="l">
              <a:lnSpc>
                <a:spcPct val="110000"/>
              </a:lnSpc>
            </a:pPr>
            <a:r>
              <a:rPr sz="2800" b="1" i="0">
                <a:solidFill>
                  <a:srgbClr val="1B3A63"/>
                </a:solidFill>
                <a:latin typeface="Calibri"/>
              </a:rPr>
              <a:t>Autonomous Data Steward for Snowflake</a:t>
            </a:r>
          </a:p>
        </p:txBody>
      </p:sp>
      <p:sp>
        <p:nvSpPr>
          <p:cNvPr id="7" name="TextBox 6"/>
          <p:cNvSpPr txBox="1"/>
          <p:nvPr/>
        </p:nvSpPr>
        <p:spPr>
          <a:xfrm>
            <a:off x="914400" y="3291840"/>
            <a:ext cx="6400800" cy="1188720"/>
          </a:xfrm>
          <a:prstGeom prst="rect">
            <a:avLst/>
          </a:prstGeom>
          <a:noFill/>
        </p:spPr>
        <p:txBody>
          <a:bodyPr wrap="square" anchor="t" lIns="73152" rIns="73152" tIns="36576" bIns="36576">
            <a:spAutoFit/>
          </a:bodyPr>
          <a:lstStyle/>
          <a:p>
            <a:pPr algn="l">
              <a:lnSpc>
                <a:spcPct val="120000"/>
              </a:lnSpc>
            </a:pPr>
            <a:r>
              <a:rPr sz="1700" b="0" i="0">
                <a:solidFill>
                  <a:srgbClr val="5B6B7F"/>
                </a:solidFill>
                <a:latin typeface="Calibri"/>
              </a:rPr>
              <a:t>Turns messy, growing data into trusted data: autonomously, continuously and safely. A live data trust score recovers the moment a human approves a fix.</a:t>
            </a:r>
          </a:p>
        </p:txBody>
      </p:sp>
      <p:sp>
        <p:nvSpPr>
          <p:cNvPr id="8" name="TextBox 7"/>
          <p:cNvSpPr txBox="1"/>
          <p:nvPr/>
        </p:nvSpPr>
        <p:spPr>
          <a:xfrm>
            <a:off x="914400" y="5074920"/>
            <a:ext cx="6400800" cy="365760"/>
          </a:xfrm>
          <a:prstGeom prst="rect">
            <a:avLst/>
          </a:prstGeom>
          <a:noFill/>
        </p:spPr>
        <p:txBody>
          <a:bodyPr wrap="square" anchor="t" lIns="73152" rIns="73152" tIns="36576" bIns="36576">
            <a:spAutoFit/>
          </a:bodyPr>
          <a:lstStyle/>
          <a:p>
            <a:pPr algn="l">
              <a:lnSpc>
                <a:spcPct val="110000"/>
              </a:lnSpc>
            </a:pPr>
            <a:r>
              <a:rPr sz="2000" b="1" i="0">
                <a:solidFill>
                  <a:srgbClr val="0B2545"/>
                </a:solidFill>
                <a:latin typeface="Calibri"/>
              </a:rPr>
              <a:t>Biswajit Jena</a:t>
            </a:r>
          </a:p>
        </p:txBody>
      </p:sp>
      <p:sp>
        <p:nvSpPr>
          <p:cNvPr id="9" name="TextBox 8"/>
          <p:cNvSpPr txBox="1"/>
          <p:nvPr/>
        </p:nvSpPr>
        <p:spPr>
          <a:xfrm>
            <a:off x="914400" y="5440680"/>
            <a:ext cx="6400800" cy="365760"/>
          </a:xfrm>
          <a:prstGeom prst="rect">
            <a:avLst/>
          </a:prstGeom>
          <a:noFill/>
        </p:spPr>
        <p:txBody>
          <a:bodyPr wrap="square" anchor="t" lIns="73152" rIns="73152" tIns="36576" bIns="36576">
            <a:spAutoFit/>
          </a:bodyPr>
          <a:lstStyle/>
          <a:p>
            <a:pPr algn="l">
              <a:lnSpc>
                <a:spcPct val="110000"/>
              </a:lnSpc>
            </a:pPr>
            <a:r>
              <a:rPr sz="1400" b="0" i="0">
                <a:solidFill>
                  <a:srgbClr val="5B6B7F"/>
                </a:solidFill>
                <a:latin typeface="Calibri"/>
              </a:rPr>
              <a:t>Solo entry</a:t>
            </a:r>
          </a:p>
        </p:txBody>
      </p:sp>
      <p:sp>
        <p:nvSpPr>
          <p:cNvPr id="10" name="Rounded Rectangle 9"/>
          <p:cNvSpPr/>
          <p:nvPr/>
        </p:nvSpPr>
        <p:spPr>
          <a:xfrm>
            <a:off x="8001000" y="1234440"/>
            <a:ext cx="3520440" cy="4343400"/>
          </a:xfrm>
          <a:prstGeom prst="roundRect">
            <a:avLst>
              <a:gd name="adj" fmla="val 6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001000" y="1234440"/>
            <a:ext cx="3520440" cy="1097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38160" y="1554480"/>
            <a:ext cx="3246120" cy="365760"/>
          </a:xfrm>
          <a:prstGeom prst="rect">
            <a:avLst/>
          </a:prstGeom>
          <a:noFill/>
        </p:spPr>
        <p:txBody>
          <a:bodyPr wrap="square" anchor="t" lIns="73152" rIns="73152" tIns="36576" bIns="36576">
            <a:spAutoFit/>
          </a:bodyPr>
          <a:lstStyle/>
          <a:p>
            <a:pPr algn="ctr">
              <a:lnSpc>
                <a:spcPct val="110000"/>
              </a:lnSpc>
            </a:pPr>
            <a:r>
              <a:rPr sz="1300" b="1" i="0">
                <a:solidFill>
                  <a:srgbClr val="11567F"/>
                </a:solidFill>
                <a:latin typeface="Calibri"/>
              </a:rPr>
              <a:t>DATA TRUST SCORE</a:t>
            </a:r>
          </a:p>
        </p:txBody>
      </p:sp>
      <p:sp>
        <p:nvSpPr>
          <p:cNvPr id="13" name="TextBox 12"/>
          <p:cNvSpPr txBox="1"/>
          <p:nvPr/>
        </p:nvSpPr>
        <p:spPr>
          <a:xfrm>
            <a:off x="8092440" y="1965960"/>
            <a:ext cx="3337560" cy="1097280"/>
          </a:xfrm>
          <a:prstGeom prst="rect">
            <a:avLst/>
          </a:prstGeom>
          <a:noFill/>
        </p:spPr>
        <p:txBody>
          <a:bodyPr wrap="square" anchor="t" lIns="73152" rIns="73152" tIns="36576" bIns="36576">
            <a:spAutoFit/>
          </a:bodyPr>
          <a:lstStyle/>
          <a:p>
            <a:pPr algn="ctr">
              <a:lnSpc>
                <a:spcPct val="110000"/>
              </a:lnSpc>
            </a:pPr>
            <a:r>
              <a:rPr sz="5600" b="1" i="0">
                <a:solidFill>
                  <a:srgbClr val="E5484D"/>
                </a:solidFill>
                <a:latin typeface="Calibri"/>
              </a:rPr>
              <a:t>62</a:t>
            </a:r>
            <a:r>
              <a:rPr sz="3600" b="1" i="0">
                <a:solidFill>
                  <a:srgbClr val="5B6B7F"/>
                </a:solidFill>
                <a:latin typeface="Calibri"/>
              </a:rPr>
              <a:t> → </a:t>
            </a:r>
            <a:r>
              <a:rPr sz="5600" b="1" i="0">
                <a:solidFill>
                  <a:srgbClr val="2BB673"/>
                </a:solidFill>
                <a:latin typeface="Calibri"/>
              </a:rPr>
              <a:t>~100</a:t>
            </a:r>
          </a:p>
        </p:txBody>
      </p:sp>
      <p:sp>
        <p:nvSpPr>
          <p:cNvPr id="14" name="TextBox 13"/>
          <p:cNvSpPr txBox="1"/>
          <p:nvPr/>
        </p:nvSpPr>
        <p:spPr>
          <a:xfrm>
            <a:off x="8138160" y="3063240"/>
            <a:ext cx="3246120" cy="365760"/>
          </a:xfrm>
          <a:prstGeom prst="rect">
            <a:avLst/>
          </a:prstGeom>
          <a:noFill/>
        </p:spPr>
        <p:txBody>
          <a:bodyPr wrap="square" anchor="t" lIns="73152" rIns="73152" tIns="36576" bIns="36576">
            <a:spAutoFit/>
          </a:bodyPr>
          <a:lstStyle/>
          <a:p>
            <a:pPr algn="ctr">
              <a:lnSpc>
                <a:spcPct val="110000"/>
              </a:lnSpc>
            </a:pPr>
            <a:r>
              <a:rPr sz="1300" b="0" i="0">
                <a:solidFill>
                  <a:srgbClr val="5B6B7F"/>
                </a:solidFill>
                <a:latin typeface="Calibri"/>
              </a:rPr>
              <a:t>Overall, across 5 related tables</a:t>
            </a:r>
          </a:p>
        </p:txBody>
      </p:sp>
      <p:sp>
        <p:nvSpPr>
          <p:cNvPr id="15" name="TextBox 14"/>
          <p:cNvSpPr txBox="1"/>
          <p:nvPr/>
        </p:nvSpPr>
        <p:spPr>
          <a:xfrm>
            <a:off x="8321040" y="3657600"/>
            <a:ext cx="1005840" cy="502920"/>
          </a:xfrm>
          <a:prstGeom prst="rect">
            <a:avLst/>
          </a:prstGeom>
          <a:noFill/>
        </p:spPr>
        <p:txBody>
          <a:bodyPr wrap="square" anchor="ctr" lIns="73152" rIns="73152" tIns="36576" bIns="36576">
            <a:spAutoFit/>
          </a:bodyPr>
          <a:lstStyle/>
          <a:p>
            <a:pPr algn="r">
              <a:lnSpc>
                <a:spcPct val="110000"/>
              </a:lnSpc>
            </a:pPr>
            <a:r>
              <a:rPr sz="2600" b="1" i="0">
                <a:solidFill>
                  <a:srgbClr val="0B2545"/>
                </a:solidFill>
                <a:latin typeface="Calibri"/>
              </a:rPr>
              <a:t>9</a:t>
            </a:r>
          </a:p>
        </p:txBody>
      </p:sp>
      <p:sp>
        <p:nvSpPr>
          <p:cNvPr id="16" name="TextBox 15"/>
          <p:cNvSpPr txBox="1"/>
          <p:nvPr/>
        </p:nvSpPr>
        <p:spPr>
          <a:xfrm>
            <a:off x="9418320" y="3657600"/>
            <a:ext cx="2011680" cy="502920"/>
          </a:xfrm>
          <a:prstGeom prst="rect">
            <a:avLst/>
          </a:prstGeom>
          <a:noFill/>
        </p:spPr>
        <p:txBody>
          <a:bodyPr wrap="square" anchor="ctr" lIns="73152" rIns="73152" tIns="36576" bIns="36576">
            <a:spAutoFit/>
          </a:bodyPr>
          <a:lstStyle/>
          <a:p>
            <a:pPr algn="l">
              <a:lnSpc>
                <a:spcPct val="110000"/>
              </a:lnSpc>
            </a:pPr>
            <a:r>
              <a:rPr sz="1500" b="0" i="0">
                <a:solidFill>
                  <a:srgbClr val="1F2D3D"/>
                </a:solidFill>
                <a:latin typeface="Calibri"/>
              </a:rPr>
              <a:t>agents</a:t>
            </a:r>
          </a:p>
        </p:txBody>
      </p:sp>
      <p:sp>
        <p:nvSpPr>
          <p:cNvPr id="17" name="TextBox 16"/>
          <p:cNvSpPr txBox="1"/>
          <p:nvPr/>
        </p:nvSpPr>
        <p:spPr>
          <a:xfrm>
            <a:off x="8321040" y="4224528"/>
            <a:ext cx="1005840" cy="502920"/>
          </a:xfrm>
          <a:prstGeom prst="rect">
            <a:avLst/>
          </a:prstGeom>
          <a:noFill/>
        </p:spPr>
        <p:txBody>
          <a:bodyPr wrap="square" anchor="ctr" lIns="73152" rIns="73152" tIns="36576" bIns="36576">
            <a:spAutoFit/>
          </a:bodyPr>
          <a:lstStyle/>
          <a:p>
            <a:pPr algn="r">
              <a:lnSpc>
                <a:spcPct val="110000"/>
              </a:lnSpc>
            </a:pPr>
            <a:r>
              <a:rPr sz="2600" b="1" i="0">
                <a:solidFill>
                  <a:srgbClr val="0B2545"/>
                </a:solidFill>
                <a:latin typeface="Calibri"/>
              </a:rPr>
              <a:t>27</a:t>
            </a:r>
          </a:p>
        </p:txBody>
      </p:sp>
      <p:sp>
        <p:nvSpPr>
          <p:cNvPr id="18" name="TextBox 17"/>
          <p:cNvSpPr txBox="1"/>
          <p:nvPr/>
        </p:nvSpPr>
        <p:spPr>
          <a:xfrm>
            <a:off x="9418320" y="4224528"/>
            <a:ext cx="2011680" cy="502920"/>
          </a:xfrm>
          <a:prstGeom prst="rect">
            <a:avLst/>
          </a:prstGeom>
          <a:noFill/>
        </p:spPr>
        <p:txBody>
          <a:bodyPr wrap="square" anchor="ctr" lIns="73152" rIns="73152" tIns="36576" bIns="36576">
            <a:spAutoFit/>
          </a:bodyPr>
          <a:lstStyle/>
          <a:p>
            <a:pPr algn="l">
              <a:lnSpc>
                <a:spcPct val="110000"/>
              </a:lnSpc>
            </a:pPr>
            <a:r>
              <a:rPr sz="1500" b="0" i="0">
                <a:solidFill>
                  <a:srgbClr val="1F2D3D"/>
                </a:solidFill>
                <a:latin typeface="Calibri"/>
              </a:rPr>
              <a:t>quality checks</a:t>
            </a:r>
          </a:p>
        </p:txBody>
      </p:sp>
      <p:sp>
        <p:nvSpPr>
          <p:cNvPr id="19" name="TextBox 18"/>
          <p:cNvSpPr txBox="1"/>
          <p:nvPr/>
        </p:nvSpPr>
        <p:spPr>
          <a:xfrm>
            <a:off x="8321040" y="4791456"/>
            <a:ext cx="1005840" cy="502920"/>
          </a:xfrm>
          <a:prstGeom prst="rect">
            <a:avLst/>
          </a:prstGeom>
          <a:noFill/>
        </p:spPr>
        <p:txBody>
          <a:bodyPr wrap="square" anchor="ctr" lIns="73152" rIns="73152" tIns="36576" bIns="36576">
            <a:spAutoFit/>
          </a:bodyPr>
          <a:lstStyle/>
          <a:p>
            <a:pPr algn="r">
              <a:lnSpc>
                <a:spcPct val="110000"/>
              </a:lnSpc>
            </a:pPr>
            <a:r>
              <a:rPr sz="2600" b="1" i="0">
                <a:solidFill>
                  <a:srgbClr val="0B2545"/>
                </a:solidFill>
                <a:latin typeface="Calibri"/>
              </a:rPr>
              <a:t>5</a:t>
            </a:r>
          </a:p>
        </p:txBody>
      </p:sp>
      <p:sp>
        <p:nvSpPr>
          <p:cNvPr id="20" name="TextBox 19"/>
          <p:cNvSpPr txBox="1"/>
          <p:nvPr/>
        </p:nvSpPr>
        <p:spPr>
          <a:xfrm>
            <a:off x="9418320" y="4791456"/>
            <a:ext cx="2011680" cy="502920"/>
          </a:xfrm>
          <a:prstGeom prst="rect">
            <a:avLst/>
          </a:prstGeom>
          <a:noFill/>
        </p:spPr>
        <p:txBody>
          <a:bodyPr wrap="square" anchor="ctr" lIns="73152" rIns="73152" tIns="36576" bIns="36576">
            <a:spAutoFit/>
          </a:bodyPr>
          <a:lstStyle/>
          <a:p>
            <a:pPr algn="l">
              <a:lnSpc>
                <a:spcPct val="110000"/>
              </a:lnSpc>
            </a:pPr>
            <a:r>
              <a:rPr sz="1500" b="0" i="0">
                <a:solidFill>
                  <a:srgbClr val="1F2D3D"/>
                </a:solidFill>
                <a:latin typeface="Calibri"/>
              </a:rPr>
              <a:t>related tables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THE PROBLEM</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Bad data silently breaks business decisions</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2 / 12</a:t>
            </a:r>
          </a:p>
        </p:txBody>
      </p:sp>
      <p:sp>
        <p:nvSpPr>
          <p:cNvPr id="8" name="Rounded Rectangle 7"/>
          <p:cNvSpPr/>
          <p:nvPr/>
        </p:nvSpPr>
        <p:spPr>
          <a:xfrm>
            <a:off x="548640" y="1508760"/>
            <a:ext cx="2633472" cy="214884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508760"/>
            <a:ext cx="2633472" cy="914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1783080"/>
            <a:ext cx="2286000" cy="685800"/>
          </a:xfrm>
          <a:prstGeom prst="rect">
            <a:avLst/>
          </a:prstGeom>
          <a:noFill/>
        </p:spPr>
        <p:txBody>
          <a:bodyPr wrap="square" anchor="t" lIns="73152" rIns="73152" tIns="36576" bIns="36576">
            <a:spAutoFit/>
          </a:bodyPr>
          <a:lstStyle/>
          <a:p>
            <a:pPr algn="l">
              <a:lnSpc>
                <a:spcPct val="110000"/>
              </a:lnSpc>
            </a:pPr>
            <a:r>
              <a:rPr sz="1900" b="1" i="0">
                <a:solidFill>
                  <a:srgbClr val="0B2545"/>
                </a:solidFill>
                <a:latin typeface="Calibri"/>
              </a:rPr>
              <a:t>Duplicate customers</a:t>
            </a:r>
          </a:p>
        </p:txBody>
      </p:sp>
      <p:sp>
        <p:nvSpPr>
          <p:cNvPr id="11" name="TextBox 10"/>
          <p:cNvSpPr txBox="1"/>
          <p:nvPr/>
        </p:nvSpPr>
        <p:spPr>
          <a:xfrm>
            <a:off x="731520" y="2514600"/>
            <a:ext cx="2286000" cy="109728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Inflate customer counts and every report built on them.</a:t>
            </a:r>
          </a:p>
        </p:txBody>
      </p:sp>
      <p:sp>
        <p:nvSpPr>
          <p:cNvPr id="12" name="Rounded Rectangle 11"/>
          <p:cNvSpPr/>
          <p:nvPr/>
        </p:nvSpPr>
        <p:spPr>
          <a:xfrm>
            <a:off x="3364992" y="1508760"/>
            <a:ext cx="2633472" cy="214884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64992" y="1508760"/>
            <a:ext cx="2633472" cy="914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47872" y="1783080"/>
            <a:ext cx="2286000" cy="685800"/>
          </a:xfrm>
          <a:prstGeom prst="rect">
            <a:avLst/>
          </a:prstGeom>
          <a:noFill/>
        </p:spPr>
        <p:txBody>
          <a:bodyPr wrap="square" anchor="t" lIns="73152" rIns="73152" tIns="36576" bIns="36576">
            <a:spAutoFit/>
          </a:bodyPr>
          <a:lstStyle/>
          <a:p>
            <a:pPr algn="l">
              <a:lnSpc>
                <a:spcPct val="110000"/>
              </a:lnSpc>
            </a:pPr>
            <a:r>
              <a:rPr sz="1900" b="1" i="0">
                <a:solidFill>
                  <a:srgbClr val="0B2545"/>
                </a:solidFill>
                <a:latin typeface="Calibri"/>
              </a:rPr>
              <a:t>Orphan orders &amp; payments</a:t>
            </a:r>
          </a:p>
        </p:txBody>
      </p:sp>
      <p:sp>
        <p:nvSpPr>
          <p:cNvPr id="15" name="TextBox 14"/>
          <p:cNvSpPr txBox="1"/>
          <p:nvPr/>
        </p:nvSpPr>
        <p:spPr>
          <a:xfrm>
            <a:off x="3547872" y="2514600"/>
            <a:ext cx="2286000" cy="109728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Corrupt revenue attribution across related tables.</a:t>
            </a:r>
          </a:p>
        </p:txBody>
      </p:sp>
      <p:sp>
        <p:nvSpPr>
          <p:cNvPr id="16" name="Rounded Rectangle 15"/>
          <p:cNvSpPr/>
          <p:nvPr/>
        </p:nvSpPr>
        <p:spPr>
          <a:xfrm>
            <a:off x="6181344" y="1508760"/>
            <a:ext cx="2633472" cy="214884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81344" y="1508760"/>
            <a:ext cx="2633472" cy="914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64224" y="1783080"/>
            <a:ext cx="2286000" cy="685800"/>
          </a:xfrm>
          <a:prstGeom prst="rect">
            <a:avLst/>
          </a:prstGeom>
          <a:noFill/>
        </p:spPr>
        <p:txBody>
          <a:bodyPr wrap="square" anchor="t" lIns="73152" rIns="73152" tIns="36576" bIns="36576">
            <a:spAutoFit/>
          </a:bodyPr>
          <a:lstStyle/>
          <a:p>
            <a:pPr algn="l">
              <a:lnSpc>
                <a:spcPct val="110000"/>
              </a:lnSpc>
            </a:pPr>
            <a:r>
              <a:rPr sz="1900" b="1" i="0">
                <a:solidFill>
                  <a:srgbClr val="0B2545"/>
                </a:solidFill>
                <a:latin typeface="Calibri"/>
              </a:rPr>
              <a:t>Invalid emails</a:t>
            </a:r>
          </a:p>
        </p:txBody>
      </p:sp>
      <p:sp>
        <p:nvSpPr>
          <p:cNvPr id="19" name="TextBox 18"/>
          <p:cNvSpPr txBox="1"/>
          <p:nvPr/>
        </p:nvSpPr>
        <p:spPr>
          <a:xfrm>
            <a:off x="6364224" y="2514600"/>
            <a:ext cx="2286000" cy="109728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Waste marketing spend on customers you can't reach.</a:t>
            </a:r>
          </a:p>
        </p:txBody>
      </p:sp>
      <p:sp>
        <p:nvSpPr>
          <p:cNvPr id="20" name="Rounded Rectangle 19"/>
          <p:cNvSpPr/>
          <p:nvPr/>
        </p:nvSpPr>
        <p:spPr>
          <a:xfrm>
            <a:off x="8997696" y="1508760"/>
            <a:ext cx="2633472" cy="214884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997696" y="1508760"/>
            <a:ext cx="2633472" cy="9144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80576" y="1783080"/>
            <a:ext cx="2286000" cy="685800"/>
          </a:xfrm>
          <a:prstGeom prst="rect">
            <a:avLst/>
          </a:prstGeom>
          <a:noFill/>
        </p:spPr>
        <p:txBody>
          <a:bodyPr wrap="square" anchor="t" lIns="73152" rIns="73152" tIns="36576" bIns="36576">
            <a:spAutoFit/>
          </a:bodyPr>
          <a:lstStyle/>
          <a:p>
            <a:pPr algn="l">
              <a:lnSpc>
                <a:spcPct val="110000"/>
              </a:lnSpc>
            </a:pPr>
            <a:r>
              <a:rPr sz="1900" b="1" i="0">
                <a:solidFill>
                  <a:srgbClr val="0B2545"/>
                </a:solidFill>
                <a:latin typeface="Calibri"/>
              </a:rPr>
              <a:t>Negative prices</a:t>
            </a:r>
          </a:p>
        </p:txBody>
      </p:sp>
      <p:sp>
        <p:nvSpPr>
          <p:cNvPr id="23" name="TextBox 22"/>
          <p:cNvSpPr txBox="1"/>
          <p:nvPr/>
        </p:nvSpPr>
        <p:spPr>
          <a:xfrm>
            <a:off x="9180576" y="2514600"/>
            <a:ext cx="2286000" cy="109728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Distort margin and product profitability.</a:t>
            </a:r>
          </a:p>
        </p:txBody>
      </p:sp>
      <p:sp>
        <p:nvSpPr>
          <p:cNvPr id="24" name="Rounded Rectangle 23"/>
          <p:cNvSpPr/>
          <p:nvPr/>
        </p:nvSpPr>
        <p:spPr>
          <a:xfrm>
            <a:off x="548640" y="3977639"/>
            <a:ext cx="11091672" cy="22402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22960" y="4160520"/>
            <a:ext cx="10515600" cy="457200"/>
          </a:xfrm>
          <a:prstGeom prst="rect">
            <a:avLst/>
          </a:prstGeom>
          <a:noFill/>
        </p:spPr>
        <p:txBody>
          <a:bodyPr wrap="square" anchor="t" lIns="73152" rIns="73152" tIns="36576" bIns="36576">
            <a:spAutoFit/>
          </a:bodyPr>
          <a:lstStyle/>
          <a:p>
            <a:pPr algn="l">
              <a:lnSpc>
                <a:spcPct val="110000"/>
              </a:lnSpc>
            </a:pPr>
            <a:r>
              <a:rPr sz="2200" b="1" i="0">
                <a:solidFill>
                  <a:srgbClr val="0B2545"/>
                </a:solidFill>
                <a:latin typeface="Calibri"/>
              </a:rPr>
              <a:t>Traditional tools detect issues, then stop.</a:t>
            </a:r>
          </a:p>
        </p:txBody>
      </p:sp>
      <p:sp>
        <p:nvSpPr>
          <p:cNvPr id="26" name="Rounded Rectangle 25"/>
          <p:cNvSpPr/>
          <p:nvPr/>
        </p:nvSpPr>
        <p:spPr>
          <a:xfrm>
            <a:off x="822960" y="4800600"/>
            <a:ext cx="2423160" cy="502920"/>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8A5A00"/>
                </a:solidFill>
                <a:latin typeface="Calibri"/>
              </a:rPr>
              <a:t>Investigate root cause</a:t>
            </a:r>
          </a:p>
        </p:txBody>
      </p:sp>
      <p:sp>
        <p:nvSpPr>
          <p:cNvPr id="27" name="TextBox 26"/>
          <p:cNvSpPr txBox="1"/>
          <p:nvPr/>
        </p:nvSpPr>
        <p:spPr>
          <a:xfrm>
            <a:off x="3218688" y="4754880"/>
            <a:ext cx="320040" cy="548640"/>
          </a:xfrm>
          <a:prstGeom prst="rect">
            <a:avLst/>
          </a:prstGeom>
          <a:noFill/>
        </p:spPr>
        <p:txBody>
          <a:bodyPr wrap="square" anchor="t" lIns="73152" rIns="73152" tIns="36576" bIns="36576">
            <a:spAutoFit/>
          </a:bodyPr>
          <a:lstStyle/>
          <a:p>
            <a:pPr algn="ctr">
              <a:lnSpc>
                <a:spcPct val="110000"/>
              </a:lnSpc>
            </a:pPr>
            <a:r>
              <a:rPr sz="2600" b="0" i="0">
                <a:solidFill>
                  <a:srgbClr val="5B6B7F"/>
                </a:solidFill>
                <a:latin typeface="Calibri"/>
              </a:rPr>
              <a:t>›</a:t>
            </a:r>
          </a:p>
        </p:txBody>
      </p:sp>
      <p:sp>
        <p:nvSpPr>
          <p:cNvPr id="28" name="Rounded Rectangle 27"/>
          <p:cNvSpPr/>
          <p:nvPr/>
        </p:nvSpPr>
        <p:spPr>
          <a:xfrm>
            <a:off x="3520440" y="4800600"/>
            <a:ext cx="2423160" cy="502920"/>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8A5A00"/>
                </a:solidFill>
                <a:latin typeface="Calibri"/>
              </a:rPr>
              <a:t>Judge business impact</a:t>
            </a:r>
          </a:p>
        </p:txBody>
      </p:sp>
      <p:sp>
        <p:nvSpPr>
          <p:cNvPr id="29" name="TextBox 28"/>
          <p:cNvSpPr txBox="1"/>
          <p:nvPr/>
        </p:nvSpPr>
        <p:spPr>
          <a:xfrm>
            <a:off x="5916168" y="4754880"/>
            <a:ext cx="320040" cy="548640"/>
          </a:xfrm>
          <a:prstGeom prst="rect">
            <a:avLst/>
          </a:prstGeom>
          <a:noFill/>
        </p:spPr>
        <p:txBody>
          <a:bodyPr wrap="square" anchor="t" lIns="73152" rIns="73152" tIns="36576" bIns="36576">
            <a:spAutoFit/>
          </a:bodyPr>
          <a:lstStyle/>
          <a:p>
            <a:pPr algn="ctr">
              <a:lnSpc>
                <a:spcPct val="110000"/>
              </a:lnSpc>
            </a:pPr>
            <a:r>
              <a:rPr sz="2600" b="0" i="0">
                <a:solidFill>
                  <a:srgbClr val="5B6B7F"/>
                </a:solidFill>
                <a:latin typeface="Calibri"/>
              </a:rPr>
              <a:t>›</a:t>
            </a:r>
          </a:p>
        </p:txBody>
      </p:sp>
      <p:sp>
        <p:nvSpPr>
          <p:cNvPr id="30" name="Rounded Rectangle 29"/>
          <p:cNvSpPr/>
          <p:nvPr/>
        </p:nvSpPr>
        <p:spPr>
          <a:xfrm>
            <a:off x="6217920" y="4800600"/>
            <a:ext cx="2423160" cy="502920"/>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8A5A00"/>
                </a:solidFill>
                <a:latin typeface="Calibri"/>
              </a:rPr>
              <a:t>Write the fix</a:t>
            </a:r>
          </a:p>
        </p:txBody>
      </p:sp>
      <p:sp>
        <p:nvSpPr>
          <p:cNvPr id="31" name="TextBox 30"/>
          <p:cNvSpPr txBox="1"/>
          <p:nvPr/>
        </p:nvSpPr>
        <p:spPr>
          <a:xfrm>
            <a:off x="8613648" y="4754880"/>
            <a:ext cx="320040" cy="548640"/>
          </a:xfrm>
          <a:prstGeom prst="rect">
            <a:avLst/>
          </a:prstGeom>
          <a:noFill/>
        </p:spPr>
        <p:txBody>
          <a:bodyPr wrap="square" anchor="t" lIns="73152" rIns="73152" tIns="36576" bIns="36576">
            <a:spAutoFit/>
          </a:bodyPr>
          <a:lstStyle/>
          <a:p>
            <a:pPr algn="ctr">
              <a:lnSpc>
                <a:spcPct val="110000"/>
              </a:lnSpc>
            </a:pPr>
            <a:r>
              <a:rPr sz="2600" b="0" i="0">
                <a:solidFill>
                  <a:srgbClr val="5B6B7F"/>
                </a:solidFill>
                <a:latin typeface="Calibri"/>
              </a:rPr>
              <a:t>›</a:t>
            </a:r>
          </a:p>
        </p:txBody>
      </p:sp>
      <p:sp>
        <p:nvSpPr>
          <p:cNvPr id="32" name="Rounded Rectangle 31"/>
          <p:cNvSpPr/>
          <p:nvPr/>
        </p:nvSpPr>
        <p:spPr>
          <a:xfrm>
            <a:off x="8915400" y="4800600"/>
            <a:ext cx="2423160" cy="502920"/>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8A5A00"/>
                </a:solidFill>
                <a:latin typeface="Calibri"/>
              </a:rPr>
              <a:t>Prove it worked</a:t>
            </a:r>
          </a:p>
        </p:txBody>
      </p:sp>
      <p:sp>
        <p:nvSpPr>
          <p:cNvPr id="33" name="TextBox 32"/>
          <p:cNvSpPr txBox="1"/>
          <p:nvPr/>
        </p:nvSpPr>
        <p:spPr>
          <a:xfrm>
            <a:off x="822960" y="5532120"/>
            <a:ext cx="10515600" cy="548640"/>
          </a:xfrm>
          <a:prstGeom prst="rect">
            <a:avLst/>
          </a:prstGeom>
          <a:noFill/>
        </p:spPr>
        <p:txBody>
          <a:bodyPr wrap="square" anchor="t" lIns="73152" rIns="73152" tIns="36576" bIns="36576">
            <a:spAutoFit/>
          </a:bodyPr>
          <a:lstStyle/>
          <a:p>
            <a:pPr algn="l">
              <a:lnSpc>
                <a:spcPct val="110000"/>
              </a:lnSpc>
            </a:pPr>
            <a:r>
              <a:rPr sz="1600" b="0" i="1">
                <a:solidFill>
                  <a:srgbClr val="5B6B7F"/>
                </a:solidFill>
                <a:latin typeface="Calibri"/>
              </a:rPr>
              <a:t>...are all left to a human. That doesn't scale, and it doesn't run continuously.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THE SOLUTION</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An agentic loop that owns the full data-quality lifecycle</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3 / 12</a:t>
            </a:r>
          </a:p>
        </p:txBody>
      </p:sp>
      <p:sp>
        <p:nvSpPr>
          <p:cNvPr id="8" name="Pentagon 7"/>
          <p:cNvSpPr/>
          <p:nvPr/>
        </p:nvSpPr>
        <p:spPr>
          <a:xfrm>
            <a:off x="548640" y="1600200"/>
            <a:ext cx="1289304" cy="868680"/>
          </a:xfrm>
          <a:prstGeom prst="homePlat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Detect</a:t>
            </a:r>
          </a:p>
        </p:txBody>
      </p:sp>
      <p:sp>
        <p:nvSpPr>
          <p:cNvPr id="9" name="Chevron 8"/>
          <p:cNvSpPr/>
          <p:nvPr/>
        </p:nvSpPr>
        <p:spPr>
          <a:xfrm>
            <a:off x="1773936" y="1600200"/>
            <a:ext cx="1289304" cy="868680"/>
          </a:xfrm>
          <a:prstGeom prst="chevron">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Score</a:t>
            </a:r>
          </a:p>
        </p:txBody>
      </p:sp>
      <p:sp>
        <p:nvSpPr>
          <p:cNvPr id="10" name="Chevron 9"/>
          <p:cNvSpPr/>
          <p:nvPr/>
        </p:nvSpPr>
        <p:spPr>
          <a:xfrm>
            <a:off x="2999232" y="1600200"/>
            <a:ext cx="1289304"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Rebuild Plan</a:t>
            </a:r>
          </a:p>
        </p:txBody>
      </p:sp>
      <p:sp>
        <p:nvSpPr>
          <p:cNvPr id="11" name="Chevron 10"/>
          <p:cNvSpPr/>
          <p:nvPr/>
        </p:nvSpPr>
        <p:spPr>
          <a:xfrm>
            <a:off x="4224528" y="1600200"/>
            <a:ext cx="1289304" cy="868680"/>
          </a:xfrm>
          <a:prstGeom prst="chevron">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Explain</a:t>
            </a:r>
          </a:p>
        </p:txBody>
      </p:sp>
      <p:sp>
        <p:nvSpPr>
          <p:cNvPr id="12" name="Chevron 11"/>
          <p:cNvSpPr/>
          <p:nvPr/>
        </p:nvSpPr>
        <p:spPr>
          <a:xfrm>
            <a:off x="5449824" y="1600200"/>
            <a:ext cx="1289304"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Impact</a:t>
            </a:r>
          </a:p>
        </p:txBody>
      </p:sp>
      <p:sp>
        <p:nvSpPr>
          <p:cNvPr id="13" name="Chevron 12"/>
          <p:cNvSpPr/>
          <p:nvPr/>
        </p:nvSpPr>
        <p:spPr>
          <a:xfrm>
            <a:off x="6675120" y="1600200"/>
            <a:ext cx="1289304" cy="868680"/>
          </a:xfrm>
          <a:prstGeom prst="chevron">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Approve</a:t>
            </a:r>
          </a:p>
        </p:txBody>
      </p:sp>
      <p:sp>
        <p:nvSpPr>
          <p:cNvPr id="14" name="Chevron 13"/>
          <p:cNvSpPr/>
          <p:nvPr/>
        </p:nvSpPr>
        <p:spPr>
          <a:xfrm>
            <a:off x="7900416" y="1600200"/>
            <a:ext cx="1289304"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Remediate</a:t>
            </a:r>
          </a:p>
        </p:txBody>
      </p:sp>
      <p:sp>
        <p:nvSpPr>
          <p:cNvPr id="15" name="Chevron 14"/>
          <p:cNvSpPr/>
          <p:nvPr/>
        </p:nvSpPr>
        <p:spPr>
          <a:xfrm>
            <a:off x="9125712" y="1600200"/>
            <a:ext cx="1289304" cy="868680"/>
          </a:xfrm>
          <a:prstGeom prst="chevron">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Validate</a:t>
            </a:r>
          </a:p>
        </p:txBody>
      </p:sp>
      <p:sp>
        <p:nvSpPr>
          <p:cNvPr id="16" name="Chevron 15"/>
          <p:cNvSpPr/>
          <p:nvPr/>
        </p:nvSpPr>
        <p:spPr>
          <a:xfrm>
            <a:off x="10351008" y="1600200"/>
            <a:ext cx="1289304" cy="868680"/>
          </a:xfrm>
          <a:prstGeom prst="chevron">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Govern</a:t>
            </a:r>
          </a:p>
        </p:txBody>
      </p:sp>
      <p:sp>
        <p:nvSpPr>
          <p:cNvPr id="17" name="TextBox 16"/>
          <p:cNvSpPr txBox="1"/>
          <p:nvPr/>
        </p:nvSpPr>
        <p:spPr>
          <a:xfrm>
            <a:off x="6492240" y="2542032"/>
            <a:ext cx="1655064" cy="365760"/>
          </a:xfrm>
          <a:prstGeom prst="rect">
            <a:avLst/>
          </a:prstGeom>
          <a:noFill/>
        </p:spPr>
        <p:txBody>
          <a:bodyPr wrap="square" anchor="t" lIns="73152" rIns="73152" tIns="36576" bIns="36576">
            <a:spAutoFit/>
          </a:bodyPr>
          <a:lstStyle/>
          <a:p>
            <a:pPr algn="ctr">
              <a:lnSpc>
                <a:spcPct val="110000"/>
              </a:lnSpc>
            </a:pPr>
            <a:r>
              <a:rPr sz="1200" b="1" i="0">
                <a:solidFill>
                  <a:srgbClr val="8A5A00"/>
                </a:solidFill>
                <a:latin typeface="Calibri"/>
              </a:rPr>
              <a:t>Human gate</a:t>
            </a:r>
          </a:p>
        </p:txBody>
      </p:sp>
      <p:sp>
        <p:nvSpPr>
          <p:cNvPr id="18" name="TextBox 17"/>
          <p:cNvSpPr txBox="1"/>
          <p:nvPr/>
        </p:nvSpPr>
        <p:spPr>
          <a:xfrm>
            <a:off x="548640" y="3017520"/>
            <a:ext cx="10972800" cy="457200"/>
          </a:xfrm>
          <a:prstGeom prst="rect">
            <a:avLst/>
          </a:prstGeom>
          <a:noFill/>
        </p:spPr>
        <p:txBody>
          <a:bodyPr wrap="square" anchor="t" lIns="73152" rIns="73152" tIns="36576" bIns="36576">
            <a:spAutoFit/>
          </a:bodyPr>
          <a:lstStyle/>
          <a:p>
            <a:pPr algn="l">
              <a:lnSpc>
                <a:spcPct val="110000"/>
              </a:lnSpc>
            </a:pPr>
            <a:r>
              <a:rPr sz="2000" b="1" i="0">
                <a:solidFill>
                  <a:srgbClr val="0B2545"/>
                </a:solidFill>
                <a:latin typeface="Calibri"/>
              </a:rPr>
              <a:t>Why it's agentic, not just automation</a:t>
            </a:r>
          </a:p>
        </p:txBody>
      </p:sp>
      <p:sp>
        <p:nvSpPr>
          <p:cNvPr id="19" name="Rounded Rectangle 18"/>
          <p:cNvSpPr/>
          <p:nvPr/>
        </p:nvSpPr>
        <p:spPr>
          <a:xfrm>
            <a:off x="548640" y="3566160"/>
            <a:ext cx="2633472" cy="265176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49808" y="3767328"/>
            <a:ext cx="502920" cy="502920"/>
          </a:xfrm>
          <a:prstGeom prst="ellipse">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i="0">
                <a:solidFill>
                  <a:srgbClr val="11567F"/>
                </a:solidFill>
                <a:latin typeface="Calibri"/>
              </a:rPr>
              <a:t>1</a:t>
            </a:r>
          </a:p>
        </p:txBody>
      </p:sp>
      <p:sp>
        <p:nvSpPr>
          <p:cNvPr id="21" name="TextBox 20"/>
          <p:cNvSpPr txBox="1"/>
          <p:nvPr/>
        </p:nvSpPr>
        <p:spPr>
          <a:xfrm>
            <a:off x="731520" y="4389120"/>
            <a:ext cx="2286000" cy="457200"/>
          </a:xfrm>
          <a:prstGeom prst="rect">
            <a:avLst/>
          </a:prstGeom>
          <a:noFill/>
        </p:spPr>
        <p:txBody>
          <a:bodyPr wrap="square" anchor="t" lIns="73152" rIns="73152" tIns="36576" bIns="36576">
            <a:spAutoFit/>
          </a:bodyPr>
          <a:lstStyle/>
          <a:p>
            <a:pPr algn="l">
              <a:lnSpc>
                <a:spcPct val="110000"/>
              </a:lnSpc>
            </a:pPr>
            <a:r>
              <a:rPr sz="1800" b="1" i="0">
                <a:solidFill>
                  <a:srgbClr val="0B2545"/>
                </a:solidFill>
                <a:latin typeface="Calibri"/>
              </a:rPr>
              <a:t>Distinct roles</a:t>
            </a:r>
          </a:p>
        </p:txBody>
      </p:sp>
      <p:sp>
        <p:nvSpPr>
          <p:cNvPr id="22" name="TextBox 21"/>
          <p:cNvSpPr txBox="1"/>
          <p:nvPr/>
        </p:nvSpPr>
        <p:spPr>
          <a:xfrm>
            <a:off x="731520" y="4846320"/>
            <a:ext cx="2286000" cy="128016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Each agent has one job and reasons over the previous agent's output.</a:t>
            </a:r>
          </a:p>
        </p:txBody>
      </p:sp>
      <p:sp>
        <p:nvSpPr>
          <p:cNvPr id="23" name="Rounded Rectangle 22"/>
          <p:cNvSpPr/>
          <p:nvPr/>
        </p:nvSpPr>
        <p:spPr>
          <a:xfrm>
            <a:off x="3364992" y="3566160"/>
            <a:ext cx="2633472" cy="265176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3566160" y="3767328"/>
            <a:ext cx="502920" cy="502920"/>
          </a:xfrm>
          <a:prstGeom prst="ellipse">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i="0">
                <a:solidFill>
                  <a:srgbClr val="11567F"/>
                </a:solidFill>
                <a:latin typeface="Calibri"/>
              </a:rPr>
              <a:t>2</a:t>
            </a:r>
          </a:p>
        </p:txBody>
      </p:sp>
      <p:sp>
        <p:nvSpPr>
          <p:cNvPr id="25" name="TextBox 24"/>
          <p:cNvSpPr txBox="1"/>
          <p:nvPr/>
        </p:nvSpPr>
        <p:spPr>
          <a:xfrm>
            <a:off x="3547872" y="4389120"/>
            <a:ext cx="2286000" cy="457200"/>
          </a:xfrm>
          <a:prstGeom prst="rect">
            <a:avLst/>
          </a:prstGeom>
          <a:noFill/>
        </p:spPr>
        <p:txBody>
          <a:bodyPr wrap="square" anchor="t" lIns="73152" rIns="73152" tIns="36576" bIns="36576">
            <a:spAutoFit/>
          </a:bodyPr>
          <a:lstStyle/>
          <a:p>
            <a:pPr algn="l">
              <a:lnSpc>
                <a:spcPct val="110000"/>
              </a:lnSpc>
            </a:pPr>
            <a:r>
              <a:rPr sz="1800" b="1" i="0">
                <a:solidFill>
                  <a:srgbClr val="0B2545"/>
                </a:solidFill>
                <a:latin typeface="Calibri"/>
              </a:rPr>
              <a:t>Self-verifying</a:t>
            </a:r>
          </a:p>
        </p:txBody>
      </p:sp>
      <p:sp>
        <p:nvSpPr>
          <p:cNvPr id="26" name="TextBox 25"/>
          <p:cNvSpPr txBox="1"/>
          <p:nvPr/>
        </p:nvSpPr>
        <p:spPr>
          <a:xfrm>
            <a:off x="3547872" y="4846320"/>
            <a:ext cx="2286000" cy="128016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The Validation Agent independently re-checks the Remediation Agent's work.</a:t>
            </a:r>
          </a:p>
        </p:txBody>
      </p:sp>
      <p:sp>
        <p:nvSpPr>
          <p:cNvPr id="27" name="Rounded Rectangle 26"/>
          <p:cNvSpPr/>
          <p:nvPr/>
        </p:nvSpPr>
        <p:spPr>
          <a:xfrm>
            <a:off x="6181344" y="3566160"/>
            <a:ext cx="2633472" cy="265176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382512" y="3767328"/>
            <a:ext cx="502920" cy="502920"/>
          </a:xfrm>
          <a:prstGeom prst="ellipse">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i="0">
                <a:solidFill>
                  <a:srgbClr val="11567F"/>
                </a:solidFill>
                <a:latin typeface="Calibri"/>
              </a:rPr>
              <a:t>3</a:t>
            </a:r>
          </a:p>
        </p:txBody>
      </p:sp>
      <p:sp>
        <p:nvSpPr>
          <p:cNvPr id="29" name="TextBox 28"/>
          <p:cNvSpPr txBox="1"/>
          <p:nvPr/>
        </p:nvSpPr>
        <p:spPr>
          <a:xfrm>
            <a:off x="6364224" y="4389120"/>
            <a:ext cx="2286000" cy="457200"/>
          </a:xfrm>
          <a:prstGeom prst="rect">
            <a:avLst/>
          </a:prstGeom>
          <a:noFill/>
        </p:spPr>
        <p:txBody>
          <a:bodyPr wrap="square" anchor="t" lIns="73152" rIns="73152" tIns="36576" bIns="36576">
            <a:spAutoFit/>
          </a:bodyPr>
          <a:lstStyle/>
          <a:p>
            <a:pPr algn="l">
              <a:lnSpc>
                <a:spcPct val="110000"/>
              </a:lnSpc>
            </a:pPr>
            <a:r>
              <a:rPr sz="1800" b="1" i="0">
                <a:solidFill>
                  <a:srgbClr val="0B2545"/>
                </a:solidFill>
                <a:latin typeface="Calibri"/>
              </a:rPr>
              <a:t>Self-healing</a:t>
            </a:r>
          </a:p>
        </p:txBody>
      </p:sp>
      <p:sp>
        <p:nvSpPr>
          <p:cNvPr id="30" name="TextBox 29"/>
          <p:cNvSpPr txBox="1"/>
          <p:nvPr/>
        </p:nvSpPr>
        <p:spPr>
          <a:xfrm>
            <a:off x="6364224" y="4846320"/>
            <a:ext cx="2286000" cy="128016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The pipeline rebuilds its own fix plan when new issues appear.</a:t>
            </a:r>
          </a:p>
        </p:txBody>
      </p:sp>
      <p:sp>
        <p:nvSpPr>
          <p:cNvPr id="31" name="Rounded Rectangle 30"/>
          <p:cNvSpPr/>
          <p:nvPr/>
        </p:nvSpPr>
        <p:spPr>
          <a:xfrm>
            <a:off x="8997696" y="3566160"/>
            <a:ext cx="2633472" cy="265176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9198864" y="3767328"/>
            <a:ext cx="502920" cy="502920"/>
          </a:xfrm>
          <a:prstGeom prst="ellipse">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600" b="1" i="0">
                <a:solidFill>
                  <a:srgbClr val="11567F"/>
                </a:solidFill>
                <a:latin typeface="Calibri"/>
              </a:rPr>
              <a:t>4</a:t>
            </a:r>
          </a:p>
        </p:txBody>
      </p:sp>
      <p:sp>
        <p:nvSpPr>
          <p:cNvPr id="33" name="TextBox 32"/>
          <p:cNvSpPr txBox="1"/>
          <p:nvPr/>
        </p:nvSpPr>
        <p:spPr>
          <a:xfrm>
            <a:off x="9180576" y="4389120"/>
            <a:ext cx="2286000" cy="457200"/>
          </a:xfrm>
          <a:prstGeom prst="rect">
            <a:avLst/>
          </a:prstGeom>
          <a:noFill/>
        </p:spPr>
        <p:txBody>
          <a:bodyPr wrap="square" anchor="t" lIns="73152" rIns="73152" tIns="36576" bIns="36576">
            <a:spAutoFit/>
          </a:bodyPr>
          <a:lstStyle/>
          <a:p>
            <a:pPr algn="l">
              <a:lnSpc>
                <a:spcPct val="110000"/>
              </a:lnSpc>
            </a:pPr>
            <a:r>
              <a:rPr sz="1800" b="1" i="0">
                <a:solidFill>
                  <a:srgbClr val="0B2545"/>
                </a:solidFill>
                <a:latin typeface="Calibri"/>
              </a:rPr>
              <a:t>Knows when to stop</a:t>
            </a:r>
          </a:p>
        </p:txBody>
      </p:sp>
      <p:sp>
        <p:nvSpPr>
          <p:cNvPr id="34" name="TextBox 33"/>
          <p:cNvSpPr txBox="1"/>
          <p:nvPr/>
        </p:nvSpPr>
        <p:spPr>
          <a:xfrm>
            <a:off x="9180576" y="4846320"/>
            <a:ext cx="2286000" cy="1280160"/>
          </a:xfrm>
          <a:prstGeom prst="rect">
            <a:avLst/>
          </a:prstGeom>
          <a:noFill/>
        </p:spPr>
        <p:txBody>
          <a:bodyPr wrap="square" anchor="t" lIns="73152" rIns="73152" tIns="36576" bIns="36576">
            <a:spAutoFit/>
          </a:bodyPr>
          <a:lstStyle/>
          <a:p>
            <a:pPr algn="l">
              <a:lnSpc>
                <a:spcPct val="115000"/>
              </a:lnSpc>
            </a:pPr>
            <a:r>
              <a:rPr sz="1400" b="0" i="0">
                <a:solidFill>
                  <a:srgbClr val="5B6B7F"/>
                </a:solidFill>
                <a:latin typeface="Calibri"/>
              </a:rPr>
              <a:t>It decides its next step, including when to pause and ask a human.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HOW IT FITS TOGETHER</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Architecture: 100% native Snowflake</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4 / 12</a:t>
            </a:r>
          </a:p>
        </p:txBody>
      </p:sp>
      <p:pic>
        <p:nvPicPr>
          <p:cNvPr id="8" name="Picture 7" descr="architecture.png"/>
          <p:cNvPicPr>
            <a:picLocks noChangeAspect="1"/>
          </p:cNvPicPr>
          <p:nvPr/>
        </p:nvPicPr>
        <p:blipFill>
          <a:blip r:embed="rId2"/>
          <a:stretch>
            <a:fillRect/>
          </a:stretch>
        </p:blipFill>
        <p:spPr>
          <a:xfrm>
            <a:off x="3675887" y="1389888"/>
            <a:ext cx="7938232" cy="4892040"/>
          </a:xfrm>
          <a:prstGeom prst="rect">
            <a:avLst/>
          </a:prstGeom>
          <a:ln w="12700">
            <a:solidFill>
              <a:srgbClr val="D6E2EE"/>
            </a:solidFill>
          </a:ln>
        </p:spPr>
      </p:pic>
      <p:sp>
        <p:nvSpPr>
          <p:cNvPr id="9" name="Rounded Rectangle 8"/>
          <p:cNvSpPr/>
          <p:nvPr/>
        </p:nvSpPr>
        <p:spPr>
          <a:xfrm>
            <a:off x="548640" y="1417320"/>
            <a:ext cx="2971800" cy="896112"/>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472184"/>
            <a:ext cx="2743200" cy="320040"/>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Ingest</a:t>
            </a:r>
          </a:p>
        </p:txBody>
      </p:sp>
      <p:sp>
        <p:nvSpPr>
          <p:cNvPr id="11" name="TextBox 10"/>
          <p:cNvSpPr txBox="1"/>
          <p:nvPr/>
        </p:nvSpPr>
        <p:spPr>
          <a:xfrm>
            <a:off x="685800" y="1764792"/>
            <a:ext cx="2743200" cy="548640"/>
          </a:xfrm>
          <a:prstGeom prst="rect">
            <a:avLst/>
          </a:prstGeom>
          <a:noFill/>
        </p:spPr>
        <p:txBody>
          <a:bodyPr wrap="square" anchor="t" lIns="73152" rIns="73152" tIns="36576" bIns="36576">
            <a:spAutoFit/>
          </a:bodyPr>
          <a:lstStyle/>
          <a:p>
            <a:pPr algn="l">
              <a:lnSpc>
                <a:spcPct val="105000"/>
              </a:lnSpc>
            </a:pPr>
            <a:r>
              <a:rPr sz="1100" b="0" i="0">
                <a:solidFill>
                  <a:srgbClr val="5B6B7F"/>
                </a:solidFill>
                <a:latin typeface="Calibri"/>
              </a:rPr>
              <a:t>Snowsight upload or landing stage; Streams capture new rows (CDC).</a:t>
            </a:r>
          </a:p>
        </p:txBody>
      </p:sp>
      <p:sp>
        <p:nvSpPr>
          <p:cNvPr id="12" name="Rounded Rectangle 11"/>
          <p:cNvSpPr/>
          <p:nvPr/>
        </p:nvSpPr>
        <p:spPr>
          <a:xfrm>
            <a:off x="548640" y="2404872"/>
            <a:ext cx="2971800" cy="896112"/>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2459736"/>
            <a:ext cx="2743200" cy="320040"/>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Data layer</a:t>
            </a:r>
          </a:p>
        </p:txBody>
      </p:sp>
      <p:sp>
        <p:nvSpPr>
          <p:cNvPr id="14" name="TextBox 13"/>
          <p:cNvSpPr txBox="1"/>
          <p:nvPr/>
        </p:nvSpPr>
        <p:spPr>
          <a:xfrm>
            <a:off x="685800" y="2752344"/>
            <a:ext cx="2743200" cy="548640"/>
          </a:xfrm>
          <a:prstGeom prst="rect">
            <a:avLst/>
          </a:prstGeom>
          <a:noFill/>
        </p:spPr>
        <p:txBody>
          <a:bodyPr wrap="square" anchor="t" lIns="73152" rIns="73152" tIns="36576" bIns="36576">
            <a:spAutoFit/>
          </a:bodyPr>
          <a:lstStyle/>
          <a:p>
            <a:pPr algn="l">
              <a:lnSpc>
                <a:spcPct val="105000"/>
              </a:lnSpc>
            </a:pPr>
            <a:r>
              <a:rPr sz="1100" b="0" i="0">
                <a:solidFill>
                  <a:srgbClr val="5B6B7F"/>
                </a:solidFill>
                <a:latin typeface="Calibri"/>
              </a:rPr>
              <a:t>CUSTOMERS, ORDERS, PRODUCTS, PAYMENTS, INVENTORY, with cross-table checks.</a:t>
            </a:r>
          </a:p>
        </p:txBody>
      </p:sp>
      <p:sp>
        <p:nvSpPr>
          <p:cNvPr id="15" name="Rounded Rectangle 14"/>
          <p:cNvSpPr/>
          <p:nvPr/>
        </p:nvSpPr>
        <p:spPr>
          <a:xfrm>
            <a:off x="548640" y="3392424"/>
            <a:ext cx="2971800" cy="896112"/>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85800" y="3447288"/>
            <a:ext cx="2743200" cy="320040"/>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Agent pipeline</a:t>
            </a:r>
          </a:p>
        </p:txBody>
      </p:sp>
      <p:sp>
        <p:nvSpPr>
          <p:cNvPr id="17" name="TextBox 16"/>
          <p:cNvSpPr txBox="1"/>
          <p:nvPr/>
        </p:nvSpPr>
        <p:spPr>
          <a:xfrm>
            <a:off x="685800" y="3739896"/>
            <a:ext cx="2743200" cy="548640"/>
          </a:xfrm>
          <a:prstGeom prst="rect">
            <a:avLst/>
          </a:prstGeom>
          <a:noFill/>
        </p:spPr>
        <p:txBody>
          <a:bodyPr wrap="square" anchor="t" lIns="73152" rIns="73152" tIns="36576" bIns="36576">
            <a:spAutoFit/>
          </a:bodyPr>
          <a:lstStyle/>
          <a:p>
            <a:pPr algn="l">
              <a:lnSpc>
                <a:spcPct val="105000"/>
              </a:lnSpc>
            </a:pPr>
            <a:r>
              <a:rPr sz="1100" b="0" i="0">
                <a:solidFill>
                  <a:srgbClr val="5B6B7F"/>
                </a:solidFill>
                <a:latin typeface="Calibri"/>
              </a:rPr>
              <a:t>Task DAG: Observer → Score → Rebuild Plan → Diagnosis + Impact → Exec Summary.</a:t>
            </a:r>
          </a:p>
        </p:txBody>
      </p:sp>
      <p:sp>
        <p:nvSpPr>
          <p:cNvPr id="18" name="Rounded Rectangle 17"/>
          <p:cNvSpPr/>
          <p:nvPr/>
        </p:nvSpPr>
        <p:spPr>
          <a:xfrm>
            <a:off x="548640" y="4379976"/>
            <a:ext cx="2971800" cy="896112"/>
          </a:xfrm>
          <a:prstGeom prst="roundRect">
            <a:avLst>
              <a:gd name="adj" fmla="val 8000"/>
            </a:avLst>
          </a:prstGeom>
          <a:solidFill>
            <a:srgbClr val="FDF1DC"/>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5800" y="4434840"/>
            <a:ext cx="2743200" cy="320040"/>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Human gate</a:t>
            </a:r>
          </a:p>
        </p:txBody>
      </p:sp>
      <p:sp>
        <p:nvSpPr>
          <p:cNvPr id="20" name="TextBox 19"/>
          <p:cNvSpPr txBox="1"/>
          <p:nvPr/>
        </p:nvSpPr>
        <p:spPr>
          <a:xfrm>
            <a:off x="685800" y="4727448"/>
            <a:ext cx="2743200" cy="548640"/>
          </a:xfrm>
          <a:prstGeom prst="rect">
            <a:avLst/>
          </a:prstGeom>
          <a:noFill/>
        </p:spPr>
        <p:txBody>
          <a:bodyPr wrap="square" anchor="t" lIns="73152" rIns="73152" tIns="36576" bIns="36576">
            <a:spAutoFit/>
          </a:bodyPr>
          <a:lstStyle/>
          <a:p>
            <a:pPr algn="l">
              <a:lnSpc>
                <a:spcPct val="105000"/>
              </a:lnSpc>
            </a:pPr>
            <a:r>
              <a:rPr sz="1100" b="0" i="0">
                <a:solidFill>
                  <a:srgbClr val="5B6B7F"/>
                </a:solidFill>
                <a:latin typeface="Calibri"/>
              </a:rPr>
              <a:t>Approve → Remediate → Validate → Govern.</a:t>
            </a:r>
          </a:p>
        </p:txBody>
      </p:sp>
      <p:sp>
        <p:nvSpPr>
          <p:cNvPr id="21" name="Rounded Rectangle 20"/>
          <p:cNvSpPr/>
          <p:nvPr/>
        </p:nvSpPr>
        <p:spPr>
          <a:xfrm>
            <a:off x="548640" y="5367528"/>
            <a:ext cx="2971800" cy="896112"/>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5422392"/>
            <a:ext cx="2743200" cy="320040"/>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Presentation</a:t>
            </a:r>
          </a:p>
        </p:txBody>
      </p:sp>
      <p:sp>
        <p:nvSpPr>
          <p:cNvPr id="23" name="TextBox 22"/>
          <p:cNvSpPr txBox="1"/>
          <p:nvPr/>
        </p:nvSpPr>
        <p:spPr>
          <a:xfrm>
            <a:off x="685800" y="5715000"/>
            <a:ext cx="2743200" cy="548640"/>
          </a:xfrm>
          <a:prstGeom prst="rect">
            <a:avLst/>
          </a:prstGeom>
          <a:noFill/>
        </p:spPr>
        <p:txBody>
          <a:bodyPr wrap="square" anchor="t" lIns="73152" rIns="73152" tIns="36576" bIns="36576">
            <a:spAutoFit/>
          </a:bodyPr>
          <a:lstStyle/>
          <a:p>
            <a:pPr algn="l">
              <a:lnSpc>
                <a:spcPct val="105000"/>
              </a:lnSpc>
            </a:pPr>
            <a:r>
              <a:rPr sz="1100" b="0" i="0">
                <a:solidFill>
                  <a:srgbClr val="5B6B7F"/>
                </a:solidFill>
                <a:latin typeface="Calibri"/>
              </a:rPr>
              <a:t>Streamlit in Snowflake, 5 pages.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THE AGENTS</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Nine specialised agents</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5 / 12</a:t>
            </a:r>
          </a:p>
        </p:txBody>
      </p:sp>
      <p:graphicFrame>
        <p:nvGraphicFramePr>
          <p:cNvPr id="8" name="Table 7"/>
          <p:cNvGraphicFramePr>
            <a:graphicFrameLocks noGrp="1"/>
          </p:cNvGraphicFramePr>
          <p:nvPr/>
        </p:nvGraphicFramePr>
        <p:xfrm>
          <a:off x="548640" y="1371600"/>
          <a:ext cx="11091672" cy="4206240"/>
        </p:xfrm>
        <a:graphic>
          <a:graphicData uri="http://schemas.openxmlformats.org/drawingml/2006/table">
            <a:tbl>
              <a:tblPr firstRow="1" bandRow="1">
                <a:tableStyleId>{5C22544A-7EE6-4342-B048-85BDC9FD1C3A}</a:tableStyleId>
              </a:tblPr>
              <a:tblGrid>
                <a:gridCol w="502920"/>
                <a:gridCol w="2377440"/>
                <a:gridCol w="2194560"/>
                <a:gridCol w="6016752"/>
              </a:tblGrid>
              <a:tr h="420624">
                <a:tc>
                  <a:txBody>
                    <a:bodyPr wrap="square" anchor="t" lIns="73152" rIns="73152" tIns="36576" bIns="36576"/>
                    <a:lstStyle/>
                    <a:p>
                      <a:pPr algn="l">
                        <a:lnSpc>
                          <a:spcPct val="110000"/>
                        </a:lnSpc>
                      </a:pPr>
                      <a:r>
                        <a:rPr sz="1300" b="1" i="0">
                          <a:solidFill>
                            <a:srgbClr val="FFFFFF"/>
                          </a:solidFill>
                          <a:latin typeface="Calibri"/>
                        </a:rPr>
                        <a:t>#</a:t>
                      </a:r>
                    </a:p>
                  </a:txBody>
                  <a:tcPr anchor="ctr">
                    <a:solidFill>
                      <a:srgbClr val="0B2545"/>
                    </a:solidFill>
                  </a:tcPr>
                </a:tc>
                <a:tc>
                  <a:txBody>
                    <a:bodyPr wrap="square" anchor="t" lIns="73152" rIns="73152" tIns="36576" bIns="36576"/>
                    <a:lstStyle/>
                    <a:p>
                      <a:pPr algn="l">
                        <a:lnSpc>
                          <a:spcPct val="110000"/>
                        </a:lnSpc>
                      </a:pPr>
                      <a:r>
                        <a:rPr sz="1300" b="1" i="0">
                          <a:solidFill>
                            <a:srgbClr val="FFFFFF"/>
                          </a:solidFill>
                          <a:latin typeface="Calibri"/>
                        </a:rPr>
                        <a:t>Agent</a:t>
                      </a:r>
                    </a:p>
                  </a:txBody>
                  <a:tcPr anchor="ctr">
                    <a:solidFill>
                      <a:srgbClr val="0B2545"/>
                    </a:solidFill>
                  </a:tcPr>
                </a:tc>
                <a:tc>
                  <a:txBody>
                    <a:bodyPr wrap="square" anchor="t" lIns="73152" rIns="73152" tIns="36576" bIns="36576"/>
                    <a:lstStyle/>
                    <a:p>
                      <a:pPr algn="l">
                        <a:lnSpc>
                          <a:spcPct val="110000"/>
                        </a:lnSpc>
                      </a:pPr>
                      <a:r>
                        <a:rPr sz="1300" b="1" i="0">
                          <a:solidFill>
                            <a:srgbClr val="FFFFFF"/>
                          </a:solidFill>
                          <a:latin typeface="Calibri"/>
                        </a:rPr>
                        <a:t>Tech</a:t>
                      </a:r>
                    </a:p>
                  </a:txBody>
                  <a:tcPr anchor="ctr">
                    <a:solidFill>
                      <a:srgbClr val="0B2545"/>
                    </a:solidFill>
                  </a:tcPr>
                </a:tc>
                <a:tc>
                  <a:txBody>
                    <a:bodyPr wrap="square" anchor="t" lIns="73152" rIns="73152" tIns="36576" bIns="36576"/>
                    <a:lstStyle/>
                    <a:p>
                      <a:pPr algn="l">
                        <a:lnSpc>
                          <a:spcPct val="110000"/>
                        </a:lnSpc>
                      </a:pPr>
                      <a:r>
                        <a:rPr sz="1300" b="1" i="0">
                          <a:solidFill>
                            <a:srgbClr val="FFFFFF"/>
                          </a:solidFill>
                          <a:latin typeface="Calibri"/>
                        </a:rPr>
                        <a:t>Responsibility</a:t>
                      </a:r>
                    </a:p>
                  </a:txBody>
                  <a:tcPr anchor="ctr">
                    <a:solidFill>
                      <a:srgbClr val="0B2545"/>
                    </a:solidFill>
                  </a:tcPr>
                </a:tc>
              </a:tr>
              <a:tr h="420624">
                <a:tc>
                  <a:txBody>
                    <a:bodyPr wrap="square" anchor="t" lIns="73152" rIns="73152" tIns="36576" bIns="36576"/>
                    <a:lstStyle/>
                    <a:p>
                      <a:pPr algn="l">
                        <a:lnSpc>
                          <a:spcPct val="110000"/>
                        </a:lnSpc>
                      </a:pPr>
                      <a:r>
                        <a:rPr sz="1300" b="1" i="0">
                          <a:solidFill>
                            <a:srgbClr val="0B2545"/>
                          </a:solidFill>
                          <a:latin typeface="Calibri"/>
                        </a:rPr>
                        <a:t>1</a:t>
                      </a:r>
                    </a:p>
                  </a:txBody>
                  <a:tcPr anchor="ctr">
                    <a:solidFill>
                      <a:srgbClr val="FFFFFF"/>
                    </a:solidFill>
                  </a:tcPr>
                </a:tc>
                <a:tc>
                  <a:txBody>
                    <a:bodyPr wrap="square" anchor="t" lIns="73152" rIns="73152" tIns="36576" bIns="36576"/>
                    <a:lstStyle/>
                    <a:p>
                      <a:pPr algn="l">
                        <a:lnSpc>
                          <a:spcPct val="110000"/>
                        </a:lnSpc>
                      </a:pPr>
                      <a:r>
                        <a:rPr sz="1300" b="1" i="0">
                          <a:solidFill>
                            <a:srgbClr val="0B2545"/>
                          </a:solidFill>
                          <a:latin typeface="Calibri"/>
                        </a:rPr>
                        <a:t>Data Observer</a:t>
                      </a:r>
                    </a:p>
                  </a:txBody>
                  <a:tcPr anchor="ctr">
                    <a:solidFill>
                      <a:srgbClr val="FFFFFF"/>
                    </a:solidFill>
                  </a:tcPr>
                </a:tc>
                <a:tc>
                  <a:txBody>
                    <a:bodyPr wrap="square" anchor="t" lIns="73152" rIns="73152" tIns="36576" bIns="36576"/>
                    <a:lstStyle/>
                    <a:p>
                      <a:pPr algn="l">
                        <a:lnSpc>
                          <a:spcPct val="110000"/>
                        </a:lnSpc>
                      </a:pPr>
                      <a:r>
                        <a:rPr sz="1300" b="0" i="0">
                          <a:solidFill>
                            <a:srgbClr val="1F2D3D"/>
                          </a:solidFill>
                          <a:latin typeface="Calibri"/>
                        </a:rPr>
                        <a:t>Deterministic SQL</a:t>
                      </a:r>
                    </a:p>
                  </a:txBody>
                  <a:tcPr anchor="ctr">
                    <a:solidFill>
                      <a:srgbClr val="FFFFFF"/>
                    </a:solidFill>
                  </a:tcPr>
                </a:tc>
                <a:tc>
                  <a:txBody>
                    <a:bodyPr wrap="square" anchor="t" lIns="73152" rIns="73152" tIns="36576" bIns="36576"/>
                    <a:lstStyle/>
                    <a:p>
                      <a:pPr algn="l">
                        <a:lnSpc>
                          <a:spcPct val="110000"/>
                        </a:lnSpc>
                      </a:pPr>
                      <a:r>
                        <a:rPr sz="1300" b="0" i="0">
                          <a:solidFill>
                            <a:srgbClr val="1F2D3D"/>
                          </a:solidFill>
                          <a:latin typeface="Calibri"/>
                        </a:rPr>
                        <a:t>27 checks across 5 tables (incl. cross-table) → DQ_ISSUES</a:t>
                      </a:r>
                    </a:p>
                  </a:txBody>
                  <a:tcPr anchor="ctr">
                    <a:solidFill>
                      <a:srgbClr val="FFFFFF"/>
                    </a:solidFill>
                  </a:tcPr>
                </a:tc>
              </a:tr>
              <a:tr h="420624">
                <a:tc>
                  <a:txBody>
                    <a:bodyPr wrap="square" anchor="t" lIns="73152" rIns="73152" tIns="36576" bIns="36576"/>
                    <a:lstStyle/>
                    <a:p>
                      <a:pPr algn="l">
                        <a:lnSpc>
                          <a:spcPct val="110000"/>
                        </a:lnSpc>
                      </a:pPr>
                      <a:r>
                        <a:rPr sz="1300" b="1" i="0">
                          <a:solidFill>
                            <a:srgbClr val="0B2545"/>
                          </a:solidFill>
                          <a:latin typeface="Calibri"/>
                        </a:rPr>
                        <a:t>2</a:t>
                      </a:r>
                    </a:p>
                  </a:txBody>
                  <a:tcPr anchor="ctr">
                    <a:solidFill>
                      <a:srgbClr val="F4F7FB"/>
                    </a:solidFill>
                  </a:tcPr>
                </a:tc>
                <a:tc>
                  <a:txBody>
                    <a:bodyPr wrap="square" anchor="t" lIns="73152" rIns="73152" tIns="36576" bIns="36576"/>
                    <a:lstStyle/>
                    <a:p>
                      <a:pPr algn="l">
                        <a:lnSpc>
                          <a:spcPct val="110000"/>
                        </a:lnSpc>
                      </a:pPr>
                      <a:r>
                        <a:rPr sz="1300" b="1" i="0">
                          <a:solidFill>
                            <a:srgbClr val="0B2545"/>
                          </a:solidFill>
                          <a:latin typeface="Calibri"/>
                        </a:rPr>
                        <a:t>Health Scorer</a:t>
                      </a:r>
                    </a:p>
                  </a:txBody>
                  <a:tcPr anchor="ctr">
                    <a:solidFill>
                      <a:srgbClr val="F4F7FB"/>
                    </a:solidFill>
                  </a:tcPr>
                </a:tc>
                <a:tc>
                  <a:txBody>
                    <a:bodyPr wrap="square" anchor="t" lIns="73152" rIns="73152" tIns="36576" bIns="36576"/>
                    <a:lstStyle/>
                    <a:p>
                      <a:pPr algn="l">
                        <a:lnSpc>
                          <a:spcPct val="110000"/>
                        </a:lnSpc>
                      </a:pPr>
                      <a:r>
                        <a:rPr sz="1300" b="0" i="0">
                          <a:solidFill>
                            <a:srgbClr val="1F2D3D"/>
                          </a:solidFill>
                          <a:latin typeface="Calibri"/>
                        </a:rPr>
                        <a:t>SQL (volume-aware)</a:t>
                      </a:r>
                    </a:p>
                  </a:txBody>
                  <a:tcPr anchor="ctr">
                    <a:solidFill>
                      <a:srgbClr val="F4F7FB"/>
                    </a:solidFill>
                  </a:tcPr>
                </a:tc>
                <a:tc>
                  <a:txBody>
                    <a:bodyPr wrap="square" anchor="t" lIns="73152" rIns="73152" tIns="36576" bIns="36576"/>
                    <a:lstStyle/>
                    <a:p>
                      <a:pPr algn="l">
                        <a:lnSpc>
                          <a:spcPct val="110000"/>
                        </a:lnSpc>
                      </a:pPr>
                      <a:r>
                        <a:rPr sz="1300" b="0" i="0">
                          <a:solidFill>
                            <a:srgbClr val="1F2D3D"/>
                          </a:solidFill>
                          <a:latin typeface="Calibri"/>
                        </a:rPr>
                        <a:t>Severity × % rows affected → per-table + overall score</a:t>
                      </a:r>
                    </a:p>
                  </a:txBody>
                  <a:tcPr anchor="ctr">
                    <a:solidFill>
                      <a:srgbClr val="F4F7FB"/>
                    </a:solidFill>
                  </a:tcPr>
                </a:tc>
              </a:tr>
              <a:tr h="420624">
                <a:tc>
                  <a:txBody>
                    <a:bodyPr wrap="square" anchor="t" lIns="73152" rIns="73152" tIns="36576" bIns="36576"/>
                    <a:lstStyle/>
                    <a:p>
                      <a:pPr algn="l">
                        <a:lnSpc>
                          <a:spcPct val="110000"/>
                        </a:lnSpc>
                      </a:pPr>
                      <a:r>
                        <a:rPr sz="1300" b="1" i="0">
                          <a:solidFill>
                            <a:srgbClr val="0B2545"/>
                          </a:solidFill>
                          <a:latin typeface="Calibri"/>
                        </a:rPr>
                        <a:t>3</a:t>
                      </a:r>
                    </a:p>
                  </a:txBody>
                  <a:tcPr anchor="ctr">
                    <a:solidFill>
                      <a:srgbClr val="FFFFFF"/>
                    </a:solidFill>
                  </a:tcPr>
                </a:tc>
                <a:tc>
                  <a:txBody>
                    <a:bodyPr wrap="square" anchor="t" lIns="73152" rIns="73152" tIns="36576" bIns="36576"/>
                    <a:lstStyle/>
                    <a:p>
                      <a:pPr algn="l">
                        <a:lnSpc>
                          <a:spcPct val="110000"/>
                        </a:lnSpc>
                      </a:pPr>
                      <a:r>
                        <a:rPr sz="1300" b="1" i="0">
                          <a:solidFill>
                            <a:srgbClr val="0B2545"/>
                          </a:solidFill>
                          <a:latin typeface="Calibri"/>
                        </a:rPr>
                        <a:t>Plan Builder</a:t>
                      </a:r>
                    </a:p>
                  </a:txBody>
                  <a:tcPr anchor="ctr">
                    <a:solidFill>
                      <a:srgbClr val="FFFFFF"/>
                    </a:solidFill>
                  </a:tcPr>
                </a:tc>
                <a:tc>
                  <a:txBody>
                    <a:bodyPr wrap="square" anchor="t" lIns="73152" rIns="73152" tIns="36576" bIns="36576"/>
                    <a:lstStyle/>
                    <a:p>
                      <a:pPr algn="l">
                        <a:lnSpc>
                          <a:spcPct val="110000"/>
                        </a:lnSpc>
                      </a:pPr>
                      <a:r>
                        <a:rPr sz="1300" b="0" i="0">
                          <a:solidFill>
                            <a:srgbClr val="1F2D3D"/>
                          </a:solidFill>
                          <a:latin typeface="Calibri"/>
                        </a:rPr>
                        <a:t>SQL</a:t>
                      </a:r>
                    </a:p>
                  </a:txBody>
                  <a:tcPr anchor="ctr">
                    <a:solidFill>
                      <a:srgbClr val="FFFFFF"/>
                    </a:solidFill>
                  </a:tcPr>
                </a:tc>
                <a:tc>
                  <a:txBody>
                    <a:bodyPr wrap="square" anchor="t" lIns="73152" rIns="73152" tIns="36576" bIns="36576"/>
                    <a:lstStyle/>
                    <a:p>
                      <a:pPr algn="l">
                        <a:lnSpc>
                          <a:spcPct val="110000"/>
                        </a:lnSpc>
                      </a:pPr>
                      <a:r>
                        <a:rPr sz="1300" b="0" i="0">
                          <a:solidFill>
                            <a:srgbClr val="1F2D3D"/>
                          </a:solidFill>
                          <a:latin typeface="Calibri"/>
                        </a:rPr>
                        <a:t>Self-healing: rebuilds the fix plan for current issues</a:t>
                      </a:r>
                    </a:p>
                  </a:txBody>
                  <a:tcPr anchor="ctr">
                    <a:solidFill>
                      <a:srgbClr val="FFFFFF"/>
                    </a:solidFill>
                  </a:tcPr>
                </a:tc>
              </a:tr>
              <a:tr h="420624">
                <a:tc>
                  <a:txBody>
                    <a:bodyPr wrap="square" anchor="t" lIns="73152" rIns="73152" tIns="36576" bIns="36576"/>
                    <a:lstStyle/>
                    <a:p>
                      <a:pPr algn="l">
                        <a:lnSpc>
                          <a:spcPct val="110000"/>
                        </a:lnSpc>
                      </a:pPr>
                      <a:r>
                        <a:rPr sz="1300" b="1" i="0">
                          <a:solidFill>
                            <a:srgbClr val="0B2545"/>
                          </a:solidFill>
                          <a:latin typeface="Calibri"/>
                        </a:rPr>
                        <a:t>4</a:t>
                      </a:r>
                    </a:p>
                  </a:txBody>
                  <a:tcPr anchor="ctr">
                    <a:solidFill>
                      <a:srgbClr val="E3F5FC"/>
                    </a:solidFill>
                  </a:tcPr>
                </a:tc>
                <a:tc>
                  <a:txBody>
                    <a:bodyPr wrap="square" anchor="t" lIns="73152" rIns="73152" tIns="36576" bIns="36576"/>
                    <a:lstStyle/>
                    <a:p>
                      <a:pPr algn="l">
                        <a:lnSpc>
                          <a:spcPct val="110000"/>
                        </a:lnSpc>
                      </a:pPr>
                      <a:r>
                        <a:rPr sz="1300" b="1" i="0">
                          <a:solidFill>
                            <a:srgbClr val="0B2545"/>
                          </a:solidFill>
                          <a:latin typeface="Calibri"/>
                        </a:rPr>
                        <a:t>Diagnosis</a:t>
                      </a:r>
                    </a:p>
                  </a:txBody>
                  <a:tcPr anchor="ctr">
                    <a:solidFill>
                      <a:srgbClr val="E3F5FC"/>
                    </a:solidFill>
                  </a:tcPr>
                </a:tc>
                <a:tc>
                  <a:txBody>
                    <a:bodyPr wrap="square" anchor="t" lIns="73152" rIns="73152" tIns="36576" bIns="36576"/>
                    <a:lstStyle/>
                    <a:p>
                      <a:pPr algn="l">
                        <a:lnSpc>
                          <a:spcPct val="110000"/>
                        </a:lnSpc>
                      </a:pPr>
                      <a:r>
                        <a:rPr sz="1300" b="1" i="0">
                          <a:solidFill>
                            <a:srgbClr val="11567F"/>
                          </a:solidFill>
                          <a:latin typeface="Calibri"/>
                        </a:rPr>
                        <a:t>Snowflake Cortex</a:t>
                      </a:r>
                    </a:p>
                  </a:txBody>
                  <a:tcPr anchor="ctr">
                    <a:solidFill>
                      <a:srgbClr val="E3F5FC"/>
                    </a:solidFill>
                  </a:tcPr>
                </a:tc>
                <a:tc>
                  <a:txBody>
                    <a:bodyPr wrap="square" anchor="t" lIns="73152" rIns="73152" tIns="36576" bIns="36576"/>
                    <a:lstStyle/>
                    <a:p>
                      <a:pPr algn="l">
                        <a:lnSpc>
                          <a:spcPct val="110000"/>
                        </a:lnSpc>
                      </a:pPr>
                      <a:r>
                        <a:rPr sz="1300" b="0" i="0">
                          <a:solidFill>
                            <a:srgbClr val="1F2D3D"/>
                          </a:solidFill>
                          <a:latin typeface="Calibri"/>
                        </a:rPr>
                        <a:t>Plain-English root cause per issue</a:t>
                      </a:r>
                    </a:p>
                  </a:txBody>
                  <a:tcPr anchor="ctr">
                    <a:solidFill>
                      <a:srgbClr val="E3F5FC"/>
                    </a:solidFill>
                  </a:tcPr>
                </a:tc>
              </a:tr>
              <a:tr h="420624">
                <a:tc>
                  <a:txBody>
                    <a:bodyPr wrap="square" anchor="t" lIns="73152" rIns="73152" tIns="36576" bIns="36576"/>
                    <a:lstStyle/>
                    <a:p>
                      <a:pPr algn="l">
                        <a:lnSpc>
                          <a:spcPct val="110000"/>
                        </a:lnSpc>
                      </a:pPr>
                      <a:r>
                        <a:rPr sz="1300" b="1" i="0">
                          <a:solidFill>
                            <a:srgbClr val="0B2545"/>
                          </a:solidFill>
                          <a:latin typeface="Calibri"/>
                        </a:rPr>
                        <a:t>5</a:t>
                      </a:r>
                    </a:p>
                  </a:txBody>
                  <a:tcPr anchor="ctr">
                    <a:solidFill>
                      <a:srgbClr val="E3F5FC"/>
                    </a:solidFill>
                  </a:tcPr>
                </a:tc>
                <a:tc>
                  <a:txBody>
                    <a:bodyPr wrap="square" anchor="t" lIns="73152" rIns="73152" tIns="36576" bIns="36576"/>
                    <a:lstStyle/>
                    <a:p>
                      <a:pPr algn="l">
                        <a:lnSpc>
                          <a:spcPct val="110000"/>
                        </a:lnSpc>
                      </a:pPr>
                      <a:r>
                        <a:rPr sz="1300" b="1" i="0">
                          <a:solidFill>
                            <a:srgbClr val="0B2545"/>
                          </a:solidFill>
                          <a:latin typeface="Calibri"/>
                        </a:rPr>
                        <a:t>Business Impact</a:t>
                      </a:r>
                    </a:p>
                  </a:txBody>
                  <a:tcPr anchor="ctr">
                    <a:solidFill>
                      <a:srgbClr val="E3F5FC"/>
                    </a:solidFill>
                  </a:tcPr>
                </a:tc>
                <a:tc>
                  <a:txBody>
                    <a:bodyPr wrap="square" anchor="t" lIns="73152" rIns="73152" tIns="36576" bIns="36576"/>
                    <a:lstStyle/>
                    <a:p>
                      <a:pPr algn="l">
                        <a:lnSpc>
                          <a:spcPct val="110000"/>
                        </a:lnSpc>
                      </a:pPr>
                      <a:r>
                        <a:rPr sz="1300" b="1" i="0">
                          <a:solidFill>
                            <a:srgbClr val="11567F"/>
                          </a:solidFill>
                          <a:latin typeface="Calibri"/>
                        </a:rPr>
                        <a:t>Snowflake Cortex</a:t>
                      </a:r>
                    </a:p>
                  </a:txBody>
                  <a:tcPr anchor="ctr">
                    <a:solidFill>
                      <a:srgbClr val="E3F5FC"/>
                    </a:solidFill>
                  </a:tcPr>
                </a:tc>
                <a:tc>
                  <a:txBody>
                    <a:bodyPr wrap="square" anchor="t" lIns="73152" rIns="73152" tIns="36576" bIns="36576"/>
                    <a:lstStyle/>
                    <a:p>
                      <a:pPr algn="l">
                        <a:lnSpc>
                          <a:spcPct val="110000"/>
                        </a:lnSpc>
                      </a:pPr>
                      <a:r>
                        <a:rPr sz="1300" b="0" i="0">
                          <a:solidFill>
                            <a:srgbClr val="1F2D3D"/>
                          </a:solidFill>
                          <a:latin typeface="Calibri"/>
                        </a:rPr>
                        <a:t>Executive-language business impact</a:t>
                      </a:r>
                    </a:p>
                  </a:txBody>
                  <a:tcPr anchor="ctr">
                    <a:solidFill>
                      <a:srgbClr val="E3F5FC"/>
                    </a:solidFill>
                  </a:tcPr>
                </a:tc>
              </a:tr>
              <a:tr h="420624">
                <a:tc>
                  <a:txBody>
                    <a:bodyPr wrap="square" anchor="t" lIns="73152" rIns="73152" tIns="36576" bIns="36576"/>
                    <a:lstStyle/>
                    <a:p>
                      <a:pPr algn="l">
                        <a:lnSpc>
                          <a:spcPct val="110000"/>
                        </a:lnSpc>
                      </a:pPr>
                      <a:r>
                        <a:rPr sz="1300" b="1" i="0">
                          <a:solidFill>
                            <a:srgbClr val="0B2545"/>
                          </a:solidFill>
                          <a:latin typeface="Calibri"/>
                        </a:rPr>
                        <a:t>6</a:t>
                      </a:r>
                    </a:p>
                  </a:txBody>
                  <a:tcPr anchor="ctr">
                    <a:solidFill>
                      <a:srgbClr val="E3F5FC"/>
                    </a:solidFill>
                  </a:tcPr>
                </a:tc>
                <a:tc>
                  <a:txBody>
                    <a:bodyPr wrap="square" anchor="t" lIns="73152" rIns="73152" tIns="36576" bIns="36576"/>
                    <a:lstStyle/>
                    <a:p>
                      <a:pPr algn="l">
                        <a:lnSpc>
                          <a:spcPct val="110000"/>
                        </a:lnSpc>
                      </a:pPr>
                      <a:r>
                        <a:rPr sz="1300" b="1" i="0">
                          <a:solidFill>
                            <a:srgbClr val="0B2545"/>
                          </a:solidFill>
                          <a:latin typeface="Calibri"/>
                        </a:rPr>
                        <a:t>Exec Summary</a:t>
                      </a:r>
                    </a:p>
                  </a:txBody>
                  <a:tcPr anchor="ctr">
                    <a:solidFill>
                      <a:srgbClr val="E3F5FC"/>
                    </a:solidFill>
                  </a:tcPr>
                </a:tc>
                <a:tc>
                  <a:txBody>
                    <a:bodyPr wrap="square" anchor="t" lIns="73152" rIns="73152" tIns="36576" bIns="36576"/>
                    <a:lstStyle/>
                    <a:p>
                      <a:pPr algn="l">
                        <a:lnSpc>
                          <a:spcPct val="110000"/>
                        </a:lnSpc>
                      </a:pPr>
                      <a:r>
                        <a:rPr sz="1300" b="1" i="0">
                          <a:solidFill>
                            <a:srgbClr val="11567F"/>
                          </a:solidFill>
                          <a:latin typeface="Calibri"/>
                        </a:rPr>
                        <a:t>Snowflake Cortex</a:t>
                      </a:r>
                    </a:p>
                  </a:txBody>
                  <a:tcPr anchor="ctr">
                    <a:solidFill>
                      <a:srgbClr val="E3F5FC"/>
                    </a:solidFill>
                  </a:tcPr>
                </a:tc>
                <a:tc>
                  <a:txBody>
                    <a:bodyPr wrap="square" anchor="t" lIns="73152" rIns="73152" tIns="36576" bIns="36576"/>
                    <a:lstStyle/>
                    <a:p>
                      <a:pPr algn="l">
                        <a:lnSpc>
                          <a:spcPct val="110000"/>
                        </a:lnSpc>
                      </a:pPr>
                      <a:r>
                        <a:rPr sz="1300" b="0" i="0">
                          <a:solidFill>
                            <a:srgbClr val="1F2D3D"/>
                          </a:solidFill>
                          <a:latin typeface="Calibri"/>
                        </a:rPr>
                        <a:t>One CDO-style headline paragraph</a:t>
                      </a:r>
                    </a:p>
                  </a:txBody>
                  <a:tcPr anchor="ctr">
                    <a:solidFill>
                      <a:srgbClr val="E3F5FC"/>
                    </a:solidFill>
                  </a:tcPr>
                </a:tc>
              </a:tr>
              <a:tr h="420624">
                <a:tc>
                  <a:txBody>
                    <a:bodyPr wrap="square" anchor="t" lIns="73152" rIns="73152" tIns="36576" bIns="36576"/>
                    <a:lstStyle/>
                    <a:p>
                      <a:pPr algn="l">
                        <a:lnSpc>
                          <a:spcPct val="110000"/>
                        </a:lnSpc>
                      </a:pPr>
                      <a:r>
                        <a:rPr sz="1300" b="1" i="0">
                          <a:solidFill>
                            <a:srgbClr val="0B2545"/>
                          </a:solidFill>
                          <a:latin typeface="Calibri"/>
                        </a:rPr>
                        <a:t>7</a:t>
                      </a:r>
                    </a:p>
                  </a:txBody>
                  <a:tcPr anchor="ctr">
                    <a:solidFill>
                      <a:srgbClr val="E3F5FC"/>
                    </a:solidFill>
                  </a:tcPr>
                </a:tc>
                <a:tc>
                  <a:txBody>
                    <a:bodyPr wrap="square" anchor="t" lIns="73152" rIns="73152" tIns="36576" bIns="36576"/>
                    <a:lstStyle/>
                    <a:p>
                      <a:pPr algn="l">
                        <a:lnSpc>
                          <a:spcPct val="110000"/>
                        </a:lnSpc>
                      </a:pPr>
                      <a:r>
                        <a:rPr sz="1300" b="1" i="0">
                          <a:solidFill>
                            <a:srgbClr val="0B2545"/>
                          </a:solidFill>
                          <a:latin typeface="Calibri"/>
                        </a:rPr>
                        <a:t>Remediation</a:t>
                      </a:r>
                    </a:p>
                  </a:txBody>
                  <a:tcPr anchor="ctr">
                    <a:solidFill>
                      <a:srgbClr val="E3F5FC"/>
                    </a:solidFill>
                  </a:tcPr>
                </a:tc>
                <a:tc>
                  <a:txBody>
                    <a:bodyPr wrap="square" anchor="t" lIns="73152" rIns="73152" tIns="36576" bIns="36576"/>
                    <a:lstStyle/>
                    <a:p>
                      <a:pPr algn="l">
                        <a:lnSpc>
                          <a:spcPct val="110000"/>
                        </a:lnSpc>
                      </a:pPr>
                      <a:r>
                        <a:rPr sz="1300" b="1" i="0">
                          <a:solidFill>
                            <a:srgbClr val="11567F"/>
                          </a:solidFill>
                          <a:latin typeface="Calibri"/>
                        </a:rPr>
                        <a:t>SQL + Cortex</a:t>
                      </a:r>
                    </a:p>
                  </a:txBody>
                  <a:tcPr anchor="ctr">
                    <a:solidFill>
                      <a:srgbClr val="E3F5FC"/>
                    </a:solidFill>
                  </a:tcPr>
                </a:tc>
                <a:tc>
                  <a:txBody>
                    <a:bodyPr wrap="square" anchor="t" lIns="73152" rIns="73152" tIns="36576" bIns="36576"/>
                    <a:lstStyle/>
                    <a:p>
                      <a:pPr algn="l">
                        <a:lnSpc>
                          <a:spcPct val="110000"/>
                        </a:lnSpc>
                      </a:pPr>
                      <a:r>
                        <a:rPr sz="1300" b="0" i="0">
                          <a:solidFill>
                            <a:srgbClr val="1F2D3D"/>
                          </a:solidFill>
                          <a:latin typeface="Calibri"/>
                        </a:rPr>
                        <a:t>Fix SQL + confidence + risk + approval flag; AI narrates</a:t>
                      </a:r>
                    </a:p>
                  </a:txBody>
                  <a:tcPr anchor="ctr">
                    <a:solidFill>
                      <a:srgbClr val="E3F5FC"/>
                    </a:solidFill>
                  </a:tcPr>
                </a:tc>
              </a:tr>
              <a:tr h="420624">
                <a:tc>
                  <a:txBody>
                    <a:bodyPr wrap="square" anchor="t" lIns="73152" rIns="73152" tIns="36576" bIns="36576"/>
                    <a:lstStyle/>
                    <a:p>
                      <a:pPr algn="l">
                        <a:lnSpc>
                          <a:spcPct val="110000"/>
                        </a:lnSpc>
                      </a:pPr>
                      <a:r>
                        <a:rPr sz="1300" b="1" i="0">
                          <a:solidFill>
                            <a:srgbClr val="0B2545"/>
                          </a:solidFill>
                          <a:latin typeface="Calibri"/>
                        </a:rPr>
                        <a:t>8</a:t>
                      </a:r>
                    </a:p>
                  </a:txBody>
                  <a:tcPr anchor="ctr">
                    <a:solidFill>
                      <a:srgbClr val="F4F7FB"/>
                    </a:solidFill>
                  </a:tcPr>
                </a:tc>
                <a:tc>
                  <a:txBody>
                    <a:bodyPr wrap="square" anchor="t" lIns="73152" rIns="73152" tIns="36576" bIns="36576"/>
                    <a:lstStyle/>
                    <a:p>
                      <a:pPr algn="l">
                        <a:lnSpc>
                          <a:spcPct val="110000"/>
                        </a:lnSpc>
                      </a:pPr>
                      <a:r>
                        <a:rPr sz="1300" b="1" i="0">
                          <a:solidFill>
                            <a:srgbClr val="0B2545"/>
                          </a:solidFill>
                          <a:latin typeface="Calibri"/>
                        </a:rPr>
                        <a:t>Validation</a:t>
                      </a:r>
                    </a:p>
                  </a:txBody>
                  <a:tcPr anchor="ctr">
                    <a:solidFill>
                      <a:srgbClr val="F4F7FB"/>
                    </a:solidFill>
                  </a:tcPr>
                </a:tc>
                <a:tc>
                  <a:txBody>
                    <a:bodyPr wrap="square" anchor="t" lIns="73152" rIns="73152" tIns="36576" bIns="36576"/>
                    <a:lstStyle/>
                    <a:p>
                      <a:pPr algn="l">
                        <a:lnSpc>
                          <a:spcPct val="110000"/>
                        </a:lnSpc>
                      </a:pPr>
                      <a:r>
                        <a:rPr sz="1300" b="0" i="0">
                          <a:solidFill>
                            <a:srgbClr val="1F2D3D"/>
                          </a:solidFill>
                          <a:latin typeface="Calibri"/>
                        </a:rPr>
                        <a:t>Deterministic SQL</a:t>
                      </a:r>
                    </a:p>
                  </a:txBody>
                  <a:tcPr anchor="ctr">
                    <a:solidFill>
                      <a:srgbClr val="F4F7FB"/>
                    </a:solidFill>
                  </a:tcPr>
                </a:tc>
                <a:tc>
                  <a:txBody>
                    <a:bodyPr wrap="square" anchor="t" lIns="73152" rIns="73152" tIns="36576" bIns="36576"/>
                    <a:lstStyle/>
                    <a:p>
                      <a:pPr algn="l">
                        <a:lnSpc>
                          <a:spcPct val="110000"/>
                        </a:lnSpc>
                      </a:pPr>
                      <a:r>
                        <a:rPr sz="1300" b="0" i="0">
                          <a:solidFill>
                            <a:srgbClr val="1F2D3D"/>
                          </a:solidFill>
                          <a:latin typeface="Calibri"/>
                        </a:rPr>
                        <a:t>Re-detect + re-score, prove before → after</a:t>
                      </a:r>
                    </a:p>
                  </a:txBody>
                  <a:tcPr anchor="ctr">
                    <a:solidFill>
                      <a:srgbClr val="F4F7FB"/>
                    </a:solidFill>
                  </a:tcPr>
                </a:tc>
              </a:tr>
              <a:tr h="420624">
                <a:tc>
                  <a:txBody>
                    <a:bodyPr wrap="square" anchor="t" lIns="73152" rIns="73152" tIns="36576" bIns="36576"/>
                    <a:lstStyle/>
                    <a:p>
                      <a:pPr algn="l">
                        <a:lnSpc>
                          <a:spcPct val="110000"/>
                        </a:lnSpc>
                      </a:pPr>
                      <a:r>
                        <a:rPr sz="1300" b="1" i="0">
                          <a:solidFill>
                            <a:srgbClr val="0B2545"/>
                          </a:solidFill>
                          <a:latin typeface="Calibri"/>
                        </a:rPr>
                        <a:t>9</a:t>
                      </a:r>
                    </a:p>
                  </a:txBody>
                  <a:tcPr anchor="ctr">
                    <a:solidFill>
                      <a:srgbClr val="FFFFFF"/>
                    </a:solidFill>
                  </a:tcPr>
                </a:tc>
                <a:tc>
                  <a:txBody>
                    <a:bodyPr wrap="square" anchor="t" lIns="73152" rIns="73152" tIns="36576" bIns="36576"/>
                    <a:lstStyle/>
                    <a:p>
                      <a:pPr algn="l">
                        <a:lnSpc>
                          <a:spcPct val="110000"/>
                        </a:lnSpc>
                      </a:pPr>
                      <a:r>
                        <a:rPr sz="1300" b="1" i="0">
                          <a:solidFill>
                            <a:srgbClr val="0B2545"/>
                          </a:solidFill>
                          <a:latin typeface="Calibri"/>
                        </a:rPr>
                        <a:t>Governance Recorder</a:t>
                      </a:r>
                    </a:p>
                  </a:txBody>
                  <a:tcPr anchor="ctr">
                    <a:solidFill>
                      <a:srgbClr val="FFFFFF"/>
                    </a:solidFill>
                  </a:tcPr>
                </a:tc>
                <a:tc>
                  <a:txBody>
                    <a:bodyPr wrap="square" anchor="t" lIns="73152" rIns="73152" tIns="36576" bIns="36576"/>
                    <a:lstStyle/>
                    <a:p>
                      <a:pPr algn="l">
                        <a:lnSpc>
                          <a:spcPct val="110000"/>
                        </a:lnSpc>
                      </a:pPr>
                      <a:r>
                        <a:rPr sz="1300" b="0" i="0">
                          <a:solidFill>
                            <a:srgbClr val="1F2D3D"/>
                          </a:solidFill>
                          <a:latin typeface="Calibri"/>
                        </a:rPr>
                        <a:t>SQL</a:t>
                      </a:r>
                    </a:p>
                  </a:txBody>
                  <a:tcPr anchor="ctr">
                    <a:solidFill>
                      <a:srgbClr val="FFFFFF"/>
                    </a:solidFill>
                  </a:tcPr>
                </a:tc>
                <a:tc>
                  <a:txBody>
                    <a:bodyPr wrap="square" anchor="t" lIns="73152" rIns="73152" tIns="36576" bIns="36576"/>
                    <a:lstStyle/>
                    <a:p>
                      <a:pPr algn="l">
                        <a:lnSpc>
                          <a:spcPct val="110000"/>
                        </a:lnSpc>
                      </a:pPr>
                      <a:r>
                        <a:rPr sz="1300" b="0" i="0">
                          <a:solidFill>
                            <a:srgbClr val="1F2D3D"/>
                          </a:solidFill>
                          <a:latin typeface="Calibri"/>
                        </a:rPr>
                        <a:t>Immutable audit trail of every action + approval</a:t>
                      </a:r>
                    </a:p>
                  </a:txBody>
                  <a:tcPr anchor="ctr">
                    <a:solidFill>
                      <a:srgbClr val="FFFFFF"/>
                    </a:solidFill>
                  </a:tcPr>
                </a:tc>
              </a:tr>
            </a:tbl>
          </a:graphicData>
        </a:graphic>
      </p:graphicFrame>
      <p:sp>
        <p:nvSpPr>
          <p:cNvPr id="9" name="Rounded Rectangle 8"/>
          <p:cNvSpPr/>
          <p:nvPr/>
        </p:nvSpPr>
        <p:spPr>
          <a:xfrm>
            <a:off x="548640" y="5760720"/>
            <a:ext cx="11091672" cy="566928"/>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500" b="1" i="0">
                <a:solidFill>
                  <a:srgbClr val="29B5E8"/>
                </a:solidFill>
                <a:latin typeface="Calibri"/>
              </a:rPr>
              <a:t>Design principle:  </a:t>
            </a:r>
            <a:r>
              <a:rPr sz="1500" b="0" i="0">
                <a:solidFill>
                  <a:srgbClr val="FFFFFF"/>
                </a:solidFill>
                <a:latin typeface="Calibri"/>
              </a:rPr>
              <a:t>SQL detects and executes (auditable). AI only reasons, explains and narrates. A human approves anything risky.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THE INTELLIGENCE UPGRADE</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Volume-aware scoring: severity and spread</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6 / 12</a:t>
            </a:r>
          </a:p>
        </p:txBody>
      </p:sp>
      <p:sp>
        <p:nvSpPr>
          <p:cNvPr id="8" name="Rounded Rectangle 7"/>
          <p:cNvSpPr/>
          <p:nvPr/>
        </p:nvSpPr>
        <p:spPr>
          <a:xfrm>
            <a:off x="548640" y="1417320"/>
            <a:ext cx="6126480" cy="233172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1554480"/>
            <a:ext cx="5669280" cy="365760"/>
          </a:xfrm>
          <a:prstGeom prst="rect">
            <a:avLst/>
          </a:prstGeom>
          <a:noFill/>
        </p:spPr>
        <p:txBody>
          <a:bodyPr wrap="square" anchor="t" lIns="73152" rIns="73152" tIns="36576" bIns="36576">
            <a:spAutoFit/>
          </a:bodyPr>
          <a:lstStyle/>
          <a:p>
            <a:pPr algn="l">
              <a:lnSpc>
                <a:spcPct val="110000"/>
              </a:lnSpc>
            </a:pPr>
            <a:r>
              <a:rPr sz="1200" b="1" i="0">
                <a:solidFill>
                  <a:srgbClr val="29B5E8"/>
                </a:solidFill>
                <a:latin typeface="Calibri"/>
              </a:rPr>
              <a:t>THE FORMULA</a:t>
            </a:r>
          </a:p>
        </p:txBody>
      </p:sp>
      <p:sp>
        <p:nvSpPr>
          <p:cNvPr id="10" name="TextBox 9"/>
          <p:cNvSpPr txBox="1"/>
          <p:nvPr/>
        </p:nvSpPr>
        <p:spPr>
          <a:xfrm>
            <a:off x="822960" y="1920240"/>
            <a:ext cx="5760720" cy="1737360"/>
          </a:xfrm>
          <a:prstGeom prst="rect">
            <a:avLst/>
          </a:prstGeom>
          <a:noFill/>
        </p:spPr>
        <p:txBody>
          <a:bodyPr wrap="square" anchor="t" lIns="73152" rIns="73152" tIns="36576" bIns="36576">
            <a:spAutoFit/>
          </a:bodyPr>
          <a:lstStyle/>
          <a:p>
            <a:pPr algn="l">
              <a:lnSpc>
                <a:spcPct val="135000"/>
              </a:lnSpc>
            </a:pPr>
            <a:r>
              <a:rPr sz="1700" b="0" i="0">
                <a:solidFill>
                  <a:srgbClr val="29B5E8"/>
                </a:solidFill>
                <a:latin typeface="Consolas"/>
              </a:rPr>
              <a:t>penalty</a:t>
            </a:r>
            <a:r>
              <a:rPr sz="1700" b="0" i="0">
                <a:solidFill>
                  <a:srgbClr val="FFFFFF"/>
                </a:solidFill>
                <a:latin typeface="Consolas"/>
              </a:rPr>
              <a:t>  = PRESENCE(sev)</a:t>
            </a:r>
          </a:p>
          <a:p>
            <a:pPr algn="l">
              <a:lnSpc>
                <a:spcPct val="135000"/>
              </a:lnSpc>
            </a:pPr>
            <a:r>
              <a:rPr sz="1700" b="0" i="0">
                <a:solidFill>
                  <a:srgbClr val="FFFFFF"/>
                </a:solidFill>
                <a:latin typeface="Consolas"/>
              </a:rPr>
              <a:t>         + VOLUME_MULT(sev) × pct_rows</a:t>
            </a:r>
          </a:p>
          <a:p>
            <a:pPr algn="l">
              <a:lnSpc>
                <a:spcPct val="135000"/>
              </a:lnSpc>
            </a:pPr>
            <a:r>
              <a:rPr sz="1700" b="0" i="0">
                <a:solidFill>
                  <a:srgbClr val="29B5E8"/>
                </a:solidFill>
                <a:latin typeface="Consolas"/>
              </a:rPr>
              <a:t>table</a:t>
            </a:r>
            <a:r>
              <a:rPr sz="1700" b="0" i="0">
                <a:solidFill>
                  <a:srgbClr val="FFFFFF"/>
                </a:solidFill>
                <a:latin typeface="Consolas"/>
              </a:rPr>
              <a:t>    = GREATEST(0, 100 − Σ penalty)</a:t>
            </a:r>
          </a:p>
          <a:p>
            <a:pPr algn="l">
              <a:lnSpc>
                <a:spcPct val="135000"/>
              </a:lnSpc>
            </a:pPr>
            <a:r>
              <a:rPr sz="1700" b="0" i="0">
                <a:solidFill>
                  <a:srgbClr val="29B5E8"/>
                </a:solidFill>
                <a:latin typeface="Consolas"/>
              </a:rPr>
              <a:t>overall</a:t>
            </a:r>
            <a:r>
              <a:rPr sz="1700" b="0" i="0">
                <a:solidFill>
                  <a:srgbClr val="FFFFFF"/>
                </a:solidFill>
                <a:latin typeface="Consolas"/>
              </a:rPr>
              <a:t>  = AVG(table scores)</a:t>
            </a:r>
          </a:p>
        </p:txBody>
      </p:sp>
      <p:graphicFrame>
        <p:nvGraphicFramePr>
          <p:cNvPr id="11" name="Table 10"/>
          <p:cNvGraphicFramePr>
            <a:graphicFrameLocks noGrp="1"/>
          </p:cNvGraphicFramePr>
          <p:nvPr/>
        </p:nvGraphicFramePr>
        <p:xfrm>
          <a:off x="6995160" y="1417320"/>
          <a:ext cx="4645152" cy="2331720"/>
        </p:xfrm>
        <a:graphic>
          <a:graphicData uri="http://schemas.openxmlformats.org/drawingml/2006/table">
            <a:tbl>
              <a:tblPr firstRow="1" bandRow="1">
                <a:tableStyleId>{5C22544A-7EE6-4342-B048-85BDC9FD1C3A}</a:tableStyleId>
              </a:tblPr>
              <a:tblGrid>
                <a:gridCol w="1554480"/>
                <a:gridCol w="1261872"/>
                <a:gridCol w="1828800"/>
              </a:tblGrid>
              <a:tr h="466344">
                <a:tc>
                  <a:txBody>
                    <a:bodyPr wrap="square" anchor="t" lIns="73152" rIns="73152" tIns="36576" bIns="36576"/>
                    <a:lstStyle/>
                    <a:p>
                      <a:pPr algn="l">
                        <a:lnSpc>
                          <a:spcPct val="110000"/>
                        </a:lnSpc>
                      </a:pPr>
                      <a:r>
                        <a:rPr sz="1200" b="1" i="0">
                          <a:solidFill>
                            <a:srgbClr val="FFFFFF"/>
                          </a:solidFill>
                          <a:latin typeface="Calibri"/>
                        </a:rPr>
                        <a:t>Severity</a:t>
                      </a:r>
                    </a:p>
                  </a:txBody>
                  <a:tcPr anchor="ctr">
                    <a:solidFill>
                      <a:srgbClr val="0B2545"/>
                    </a:solidFill>
                  </a:tcPr>
                </a:tc>
                <a:tc>
                  <a:txBody>
                    <a:bodyPr wrap="square" anchor="t" lIns="73152" rIns="73152" tIns="36576" bIns="36576"/>
                    <a:lstStyle/>
                    <a:p>
                      <a:pPr algn="ctr">
                        <a:lnSpc>
                          <a:spcPct val="110000"/>
                        </a:lnSpc>
                      </a:pPr>
                      <a:r>
                        <a:rPr sz="1200" b="1" i="0">
                          <a:solidFill>
                            <a:srgbClr val="FFFFFF"/>
                          </a:solidFill>
                          <a:latin typeface="Calibri"/>
                        </a:rPr>
                        <a:t>PRESENCE</a:t>
                      </a:r>
                    </a:p>
                  </a:txBody>
                  <a:tcPr anchor="ctr">
                    <a:solidFill>
                      <a:srgbClr val="0B2545"/>
                    </a:solidFill>
                  </a:tcPr>
                </a:tc>
                <a:tc>
                  <a:txBody>
                    <a:bodyPr wrap="square" anchor="t" lIns="73152" rIns="73152" tIns="36576" bIns="36576"/>
                    <a:lstStyle/>
                    <a:p>
                      <a:pPr algn="ctr">
                        <a:lnSpc>
                          <a:spcPct val="110000"/>
                        </a:lnSpc>
                      </a:pPr>
                      <a:r>
                        <a:rPr sz="1200" b="1" i="0">
                          <a:solidFill>
                            <a:srgbClr val="FFFFFF"/>
                          </a:solidFill>
                          <a:latin typeface="Calibri"/>
                        </a:rPr>
                        <a:t>VOLUME_MULT / 1% rows</a:t>
                      </a:r>
                    </a:p>
                  </a:txBody>
                  <a:tcPr anchor="ctr">
                    <a:solidFill>
                      <a:srgbClr val="0B2545"/>
                    </a:solidFill>
                  </a:tcPr>
                </a:tc>
              </a:tr>
              <a:tr h="466344">
                <a:tc>
                  <a:txBody>
                    <a:bodyPr wrap="square" anchor="t" lIns="73152" rIns="73152" tIns="36576" bIns="36576"/>
                    <a:lstStyle/>
                    <a:p>
                      <a:pPr algn="l">
                        <a:lnSpc>
                          <a:spcPct val="110000"/>
                        </a:lnSpc>
                      </a:pPr>
                      <a:r>
                        <a:rPr sz="1400" b="1" i="0">
                          <a:solidFill>
                            <a:srgbClr val="E5484D"/>
                          </a:solidFill>
                          <a:latin typeface="Calibri"/>
                        </a:rPr>
                        <a:t>CRITICAL</a:t>
                      </a:r>
                    </a:p>
                  </a:txBody>
                  <a:tcPr anchor="ctr">
                    <a:solidFill>
                      <a:srgbClr val="FFFFFF"/>
                    </a:solidFill>
                  </a:tcPr>
                </a:tc>
                <a:tc>
                  <a:txBody>
                    <a:bodyPr wrap="square" anchor="t" lIns="73152" rIns="73152" tIns="36576" bIns="36576"/>
                    <a:lstStyle/>
                    <a:p>
                      <a:pPr algn="ctr">
                        <a:lnSpc>
                          <a:spcPct val="110000"/>
                        </a:lnSpc>
                      </a:pPr>
                      <a:r>
                        <a:rPr sz="1400" b="0" i="0">
                          <a:solidFill>
                            <a:srgbClr val="1F2D3D"/>
                          </a:solidFill>
                          <a:latin typeface="Calibri"/>
                        </a:rPr>
                        <a:t>8</a:t>
                      </a:r>
                    </a:p>
                  </a:txBody>
                  <a:tcPr anchor="ctr">
                    <a:solidFill>
                      <a:srgbClr val="FFFFFF"/>
                    </a:solidFill>
                  </a:tcPr>
                </a:tc>
                <a:tc>
                  <a:txBody>
                    <a:bodyPr wrap="square" anchor="t" lIns="73152" rIns="73152" tIns="36576" bIns="36576"/>
                    <a:lstStyle/>
                    <a:p>
                      <a:pPr algn="ctr">
                        <a:lnSpc>
                          <a:spcPct val="110000"/>
                        </a:lnSpc>
                      </a:pPr>
                      <a:r>
                        <a:rPr sz="1400" b="0" i="0">
                          <a:solidFill>
                            <a:srgbClr val="1F2D3D"/>
                          </a:solidFill>
                          <a:latin typeface="Calibri"/>
                        </a:rPr>
                        <a:t>1.5</a:t>
                      </a:r>
                    </a:p>
                  </a:txBody>
                  <a:tcPr anchor="ctr">
                    <a:solidFill>
                      <a:srgbClr val="FFFFFF"/>
                    </a:solidFill>
                  </a:tcPr>
                </a:tc>
              </a:tr>
              <a:tr h="466344">
                <a:tc>
                  <a:txBody>
                    <a:bodyPr wrap="square" anchor="t" lIns="73152" rIns="73152" tIns="36576" bIns="36576"/>
                    <a:lstStyle/>
                    <a:p>
                      <a:pPr algn="l">
                        <a:lnSpc>
                          <a:spcPct val="110000"/>
                        </a:lnSpc>
                      </a:pPr>
                      <a:r>
                        <a:rPr sz="1400" b="1" i="0">
                          <a:solidFill>
                            <a:srgbClr val="8A5A00"/>
                          </a:solidFill>
                          <a:latin typeface="Calibri"/>
                        </a:rPr>
                        <a:t>HIGH</a:t>
                      </a:r>
                    </a:p>
                  </a:txBody>
                  <a:tcPr anchor="ctr">
                    <a:solidFill>
                      <a:srgbClr val="F4F7FB"/>
                    </a:solidFill>
                  </a:tcPr>
                </a:tc>
                <a:tc>
                  <a:txBody>
                    <a:bodyPr wrap="square" anchor="t" lIns="73152" rIns="73152" tIns="36576" bIns="36576"/>
                    <a:lstStyle/>
                    <a:p>
                      <a:pPr algn="ctr">
                        <a:lnSpc>
                          <a:spcPct val="110000"/>
                        </a:lnSpc>
                      </a:pPr>
                      <a:r>
                        <a:rPr sz="1400" b="0" i="0">
                          <a:solidFill>
                            <a:srgbClr val="1F2D3D"/>
                          </a:solidFill>
                          <a:latin typeface="Calibri"/>
                        </a:rPr>
                        <a:t>4</a:t>
                      </a:r>
                    </a:p>
                  </a:txBody>
                  <a:tcPr anchor="ctr">
                    <a:solidFill>
                      <a:srgbClr val="F4F7FB"/>
                    </a:solidFill>
                  </a:tcPr>
                </a:tc>
                <a:tc>
                  <a:txBody>
                    <a:bodyPr wrap="square" anchor="t" lIns="73152" rIns="73152" tIns="36576" bIns="36576"/>
                    <a:lstStyle/>
                    <a:p>
                      <a:pPr algn="ctr">
                        <a:lnSpc>
                          <a:spcPct val="110000"/>
                        </a:lnSpc>
                      </a:pPr>
                      <a:r>
                        <a:rPr sz="1400" b="0" i="0">
                          <a:solidFill>
                            <a:srgbClr val="1F2D3D"/>
                          </a:solidFill>
                          <a:latin typeface="Calibri"/>
                        </a:rPr>
                        <a:t>1.0</a:t>
                      </a:r>
                    </a:p>
                  </a:txBody>
                  <a:tcPr anchor="ctr">
                    <a:solidFill>
                      <a:srgbClr val="F4F7FB"/>
                    </a:solidFill>
                  </a:tcPr>
                </a:tc>
              </a:tr>
              <a:tr h="466344">
                <a:tc>
                  <a:txBody>
                    <a:bodyPr wrap="square" anchor="t" lIns="73152" rIns="73152" tIns="36576" bIns="36576"/>
                    <a:lstStyle/>
                    <a:p>
                      <a:pPr algn="l">
                        <a:lnSpc>
                          <a:spcPct val="110000"/>
                        </a:lnSpc>
                      </a:pPr>
                      <a:r>
                        <a:rPr sz="1400" b="1" i="0">
                          <a:solidFill>
                            <a:srgbClr val="11567F"/>
                          </a:solidFill>
                          <a:latin typeface="Calibri"/>
                        </a:rPr>
                        <a:t>MEDIUM</a:t>
                      </a:r>
                    </a:p>
                  </a:txBody>
                  <a:tcPr anchor="ctr">
                    <a:solidFill>
                      <a:srgbClr val="FFFFFF"/>
                    </a:solidFill>
                  </a:tcPr>
                </a:tc>
                <a:tc>
                  <a:txBody>
                    <a:bodyPr wrap="square" anchor="t" lIns="73152" rIns="73152" tIns="36576" bIns="36576"/>
                    <a:lstStyle/>
                    <a:p>
                      <a:pPr algn="ctr">
                        <a:lnSpc>
                          <a:spcPct val="110000"/>
                        </a:lnSpc>
                      </a:pPr>
                      <a:r>
                        <a:rPr sz="1400" b="0" i="0">
                          <a:solidFill>
                            <a:srgbClr val="1F2D3D"/>
                          </a:solidFill>
                          <a:latin typeface="Calibri"/>
                        </a:rPr>
                        <a:t>2</a:t>
                      </a:r>
                    </a:p>
                  </a:txBody>
                  <a:tcPr anchor="ctr">
                    <a:solidFill>
                      <a:srgbClr val="FFFFFF"/>
                    </a:solidFill>
                  </a:tcPr>
                </a:tc>
                <a:tc>
                  <a:txBody>
                    <a:bodyPr wrap="square" anchor="t" lIns="73152" rIns="73152" tIns="36576" bIns="36576"/>
                    <a:lstStyle/>
                    <a:p>
                      <a:pPr algn="ctr">
                        <a:lnSpc>
                          <a:spcPct val="110000"/>
                        </a:lnSpc>
                      </a:pPr>
                      <a:r>
                        <a:rPr sz="1400" b="0" i="0">
                          <a:solidFill>
                            <a:srgbClr val="1F2D3D"/>
                          </a:solidFill>
                          <a:latin typeface="Calibri"/>
                        </a:rPr>
                        <a:t>0.7</a:t>
                      </a:r>
                    </a:p>
                  </a:txBody>
                  <a:tcPr anchor="ctr">
                    <a:solidFill>
                      <a:srgbClr val="FFFFFF"/>
                    </a:solidFill>
                  </a:tcPr>
                </a:tc>
              </a:tr>
              <a:tr h="466344">
                <a:tc>
                  <a:txBody>
                    <a:bodyPr wrap="square" anchor="t" lIns="73152" rIns="73152" tIns="36576" bIns="36576"/>
                    <a:lstStyle/>
                    <a:p>
                      <a:pPr algn="l">
                        <a:lnSpc>
                          <a:spcPct val="110000"/>
                        </a:lnSpc>
                      </a:pPr>
                      <a:r>
                        <a:rPr sz="1400" b="1" i="0">
                          <a:solidFill>
                            <a:srgbClr val="2BB673"/>
                          </a:solidFill>
                          <a:latin typeface="Calibri"/>
                        </a:rPr>
                        <a:t>LOW</a:t>
                      </a:r>
                    </a:p>
                  </a:txBody>
                  <a:tcPr anchor="ctr">
                    <a:solidFill>
                      <a:srgbClr val="F4F7FB"/>
                    </a:solidFill>
                  </a:tcPr>
                </a:tc>
                <a:tc>
                  <a:txBody>
                    <a:bodyPr wrap="square" anchor="t" lIns="73152" rIns="73152" tIns="36576" bIns="36576"/>
                    <a:lstStyle/>
                    <a:p>
                      <a:pPr algn="ctr">
                        <a:lnSpc>
                          <a:spcPct val="110000"/>
                        </a:lnSpc>
                      </a:pPr>
                      <a:r>
                        <a:rPr sz="1400" b="0" i="0">
                          <a:solidFill>
                            <a:srgbClr val="1F2D3D"/>
                          </a:solidFill>
                          <a:latin typeface="Calibri"/>
                        </a:rPr>
                        <a:t>1</a:t>
                      </a:r>
                    </a:p>
                  </a:txBody>
                  <a:tcPr anchor="ctr">
                    <a:solidFill>
                      <a:srgbClr val="F4F7FB"/>
                    </a:solidFill>
                  </a:tcPr>
                </a:tc>
                <a:tc>
                  <a:txBody>
                    <a:bodyPr wrap="square" anchor="t" lIns="73152" rIns="73152" tIns="36576" bIns="36576"/>
                    <a:lstStyle/>
                    <a:p>
                      <a:pPr algn="ctr">
                        <a:lnSpc>
                          <a:spcPct val="110000"/>
                        </a:lnSpc>
                      </a:pPr>
                      <a:r>
                        <a:rPr sz="1400" b="0" i="0">
                          <a:solidFill>
                            <a:srgbClr val="1F2D3D"/>
                          </a:solidFill>
                          <a:latin typeface="Calibri"/>
                        </a:rPr>
                        <a:t>0.3</a:t>
                      </a:r>
                    </a:p>
                  </a:txBody>
                  <a:tcPr anchor="ctr">
                    <a:solidFill>
                      <a:srgbClr val="F4F7FB"/>
                    </a:solidFill>
                  </a:tcPr>
                </a:tc>
              </a:tr>
            </a:tbl>
          </a:graphicData>
        </a:graphic>
      </p:graphicFrame>
      <p:sp>
        <p:nvSpPr>
          <p:cNvPr id="12" name="Rounded Rectangle 11"/>
          <p:cNvSpPr/>
          <p:nvPr/>
        </p:nvSpPr>
        <p:spPr>
          <a:xfrm>
            <a:off x="548640" y="4023360"/>
            <a:ext cx="5486400" cy="22402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7240" y="4160520"/>
            <a:ext cx="5120640" cy="365760"/>
          </a:xfrm>
          <a:prstGeom prst="rect">
            <a:avLst/>
          </a:prstGeom>
          <a:noFill/>
        </p:spPr>
        <p:txBody>
          <a:bodyPr wrap="square" anchor="t" lIns="73152" rIns="73152" tIns="36576" bIns="36576">
            <a:spAutoFit/>
          </a:bodyPr>
          <a:lstStyle/>
          <a:p>
            <a:pPr algn="l">
              <a:lnSpc>
                <a:spcPct val="110000"/>
              </a:lnSpc>
            </a:pPr>
            <a:r>
              <a:rPr sz="1800" b="1" i="0">
                <a:solidFill>
                  <a:srgbClr val="0B2545"/>
                </a:solidFill>
                <a:latin typeface="Calibri"/>
              </a:rPr>
              <a:t>Why it matters</a:t>
            </a:r>
          </a:p>
        </p:txBody>
      </p:sp>
      <p:sp>
        <p:nvSpPr>
          <p:cNvPr id="14" name="TextBox 13"/>
          <p:cNvSpPr txBox="1"/>
          <p:nvPr/>
        </p:nvSpPr>
        <p:spPr>
          <a:xfrm>
            <a:off x="777240" y="4572000"/>
            <a:ext cx="5120640" cy="1645920"/>
          </a:xfrm>
          <a:prstGeom prst="rect">
            <a:avLst/>
          </a:prstGeom>
          <a:noFill/>
        </p:spPr>
        <p:txBody>
          <a:bodyPr wrap="square">
            <a:spAutoFit/>
          </a:bodyPr>
          <a:lstStyle/>
          <a:p>
            <a:pPr>
              <a:spcAft>
                <a:spcPts val="600"/>
              </a:spcAft>
            </a:pPr>
            <a:r>
              <a:rPr sz="1000">
                <a:solidFill>
                  <a:srgbClr val="29B5E8"/>
                </a:solidFill>
                <a:latin typeface="Calibri"/>
              </a:rPr>
              <a:t>■  </a:t>
            </a:r>
            <a:r>
              <a:rPr sz="1400">
                <a:solidFill>
                  <a:srgbClr val="1F2D3D"/>
                </a:solidFill>
                <a:latin typeface="Calibri"/>
              </a:rPr>
              <a:t>A large, mostly-clean table is correctly rewarded.</a:t>
            </a:r>
          </a:p>
          <a:p>
            <a:pPr>
              <a:spcAft>
                <a:spcPts val="600"/>
              </a:spcAft>
            </a:pPr>
            <a:r>
              <a:rPr sz="1000">
                <a:solidFill>
                  <a:srgbClr val="29B5E8"/>
                </a:solidFill>
                <a:latin typeface="Calibri"/>
              </a:rPr>
              <a:t>■  </a:t>
            </a:r>
            <a:r>
              <a:rPr sz="1400">
                <a:solidFill>
                  <a:srgbClr val="1F2D3D"/>
                </a:solidFill>
                <a:latin typeface="Calibri"/>
              </a:rPr>
              <a:t>A structural breach (orphan / duplicate key) still hurts, even at low volume.</a:t>
            </a:r>
          </a:p>
          <a:p>
            <a:pPr>
              <a:spcAft>
                <a:spcPts val="600"/>
              </a:spcAft>
            </a:pPr>
            <a:r>
              <a:rPr sz="1000">
                <a:solidFill>
                  <a:srgbClr val="29B5E8"/>
                </a:solidFill>
                <a:latin typeface="Calibri"/>
              </a:rPr>
              <a:t>■  </a:t>
            </a:r>
            <a:r>
              <a:rPr sz="1400">
                <a:solidFill>
                  <a:srgbClr val="1F2D3D"/>
                </a:solidFill>
                <a:latin typeface="Calibri"/>
              </a:rPr>
              <a:t>This is how a real CDO reasons about trust.</a:t>
            </a:r>
          </a:p>
        </p:txBody>
      </p:sp>
      <p:sp>
        <p:nvSpPr>
          <p:cNvPr id="15" name="Rounded Rectangle 14"/>
          <p:cNvSpPr/>
          <p:nvPr/>
        </p:nvSpPr>
        <p:spPr>
          <a:xfrm>
            <a:off x="6263640" y="4023360"/>
            <a:ext cx="5376672" cy="2240280"/>
          </a:xfrm>
          <a:prstGeom prst="roundRect">
            <a:avLst>
              <a:gd name="adj" fmla="val 8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92240" y="4160520"/>
            <a:ext cx="4937760" cy="365760"/>
          </a:xfrm>
          <a:prstGeom prst="rect">
            <a:avLst/>
          </a:prstGeom>
          <a:noFill/>
        </p:spPr>
        <p:txBody>
          <a:bodyPr wrap="square" anchor="t" lIns="73152" rIns="73152" tIns="36576" bIns="36576">
            <a:spAutoFit/>
          </a:bodyPr>
          <a:lstStyle/>
          <a:p>
            <a:pPr algn="l">
              <a:lnSpc>
                <a:spcPct val="110000"/>
              </a:lnSpc>
            </a:pPr>
            <a:r>
              <a:rPr sz="1800" b="1" i="0">
                <a:solidFill>
                  <a:srgbClr val="11567F"/>
                </a:solidFill>
                <a:latin typeface="Calibri"/>
              </a:rPr>
              <a:t>Worked example</a:t>
            </a:r>
          </a:p>
        </p:txBody>
      </p:sp>
      <p:sp>
        <p:nvSpPr>
          <p:cNvPr id="17" name="TextBox 16"/>
          <p:cNvSpPr txBox="1"/>
          <p:nvPr/>
        </p:nvSpPr>
        <p:spPr>
          <a:xfrm>
            <a:off x="6492240" y="4572000"/>
            <a:ext cx="4937760" cy="1645920"/>
          </a:xfrm>
          <a:prstGeom prst="rect">
            <a:avLst/>
          </a:prstGeom>
          <a:noFill/>
        </p:spPr>
        <p:txBody>
          <a:bodyPr wrap="square" anchor="t" lIns="73152" rIns="73152" tIns="36576" bIns="36576">
            <a:spAutoFit/>
          </a:bodyPr>
          <a:lstStyle/>
          <a:p>
            <a:pPr algn="l">
              <a:lnSpc>
                <a:spcPct val="125000"/>
              </a:lnSpc>
            </a:pPr>
            <a:r>
              <a:rPr sz="1400" b="0" i="0">
                <a:solidFill>
                  <a:srgbClr val="1F2D3D"/>
                </a:solidFill>
                <a:latin typeface="Calibri"/>
              </a:rPr>
              <a:t>A CRITICAL issue touching 2% of rows:</a:t>
            </a:r>
          </a:p>
          <a:p>
            <a:pPr algn="l">
              <a:lnSpc>
                <a:spcPct val="125000"/>
              </a:lnSpc>
            </a:pPr>
            <a:r>
              <a:rPr sz="1700" b="1" i="0">
                <a:solidFill>
                  <a:srgbClr val="0B2545"/>
                </a:solidFill>
                <a:latin typeface="Consolas"/>
              </a:rPr>
              <a:t>8 + 1.5 × 2 = 11-point penalty</a:t>
            </a:r>
          </a:p>
          <a:p>
            <a:pPr algn="l">
              <a:lnSpc>
                <a:spcPct val="125000"/>
              </a:lnSpc>
            </a:pPr>
            <a:r>
              <a:rPr sz="1400" b="0" i="0">
                <a:solidFill>
                  <a:srgbClr val="1F2D3D"/>
                </a:solidFill>
                <a:latin typeface="Calibri"/>
              </a:rPr>
              <a:t>A LOW issue touching 2% of rows:</a:t>
            </a:r>
          </a:p>
          <a:p>
            <a:pPr algn="l">
              <a:lnSpc>
                <a:spcPct val="125000"/>
              </a:lnSpc>
            </a:pPr>
            <a:r>
              <a:rPr sz="1700" b="1" i="0">
                <a:solidFill>
                  <a:srgbClr val="0B2545"/>
                </a:solidFill>
                <a:latin typeface="Consolas"/>
              </a:rPr>
              <a:t>1 + 0.3 × 2 = 1.6-point penalty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BEYOND SINGLE-TABLE CHECKS</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Cross-table integrity: the differentiator</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7 / 12</a:t>
            </a:r>
          </a:p>
        </p:txBody>
      </p:sp>
      <p:sp>
        <p:nvSpPr>
          <p:cNvPr id="8" name="Rounded Rectangle 7"/>
          <p:cNvSpPr/>
          <p:nvPr/>
        </p:nvSpPr>
        <p:spPr>
          <a:xfrm>
            <a:off x="548640" y="1417320"/>
            <a:ext cx="5989320" cy="484632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554480"/>
            <a:ext cx="5486400" cy="365760"/>
          </a:xfrm>
          <a:prstGeom prst="rect">
            <a:avLst/>
          </a:prstGeom>
          <a:noFill/>
        </p:spPr>
        <p:txBody>
          <a:bodyPr wrap="square" anchor="t" lIns="73152" rIns="73152" tIns="36576" bIns="36576">
            <a:spAutoFit/>
          </a:bodyPr>
          <a:lstStyle/>
          <a:p>
            <a:pPr algn="l">
              <a:lnSpc>
                <a:spcPct val="110000"/>
              </a:lnSpc>
            </a:pPr>
            <a:r>
              <a:rPr sz="1500" b="1" i="0">
                <a:solidFill>
                  <a:srgbClr val="5B6B7F"/>
                </a:solidFill>
                <a:latin typeface="Calibri"/>
              </a:rPr>
              <a:t>Checks impossible from one table alone</a:t>
            </a:r>
          </a:p>
        </p:txBody>
      </p:sp>
      <p:sp>
        <p:nvSpPr>
          <p:cNvPr id="10" name="Rounded Rectangle 9"/>
          <p:cNvSpPr/>
          <p:nvPr/>
        </p:nvSpPr>
        <p:spPr>
          <a:xfrm>
            <a:off x="777240" y="2331720"/>
            <a:ext cx="1463040" cy="68580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CUSTOMERS</a:t>
            </a:r>
          </a:p>
        </p:txBody>
      </p:sp>
      <p:sp>
        <p:nvSpPr>
          <p:cNvPr id="11" name="Rounded Rectangle 10"/>
          <p:cNvSpPr/>
          <p:nvPr/>
        </p:nvSpPr>
        <p:spPr>
          <a:xfrm>
            <a:off x="2788920" y="2331720"/>
            <a:ext cx="1463040" cy="68580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ORDERS</a:t>
            </a:r>
          </a:p>
        </p:txBody>
      </p:sp>
      <p:sp>
        <p:nvSpPr>
          <p:cNvPr id="12" name="Rounded Rectangle 11"/>
          <p:cNvSpPr/>
          <p:nvPr/>
        </p:nvSpPr>
        <p:spPr>
          <a:xfrm>
            <a:off x="4800600" y="2331720"/>
            <a:ext cx="1463040" cy="68580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PAYMENTS</a:t>
            </a:r>
          </a:p>
        </p:txBody>
      </p:sp>
      <p:sp>
        <p:nvSpPr>
          <p:cNvPr id="13" name="Rounded Rectangle 12"/>
          <p:cNvSpPr/>
          <p:nvPr/>
        </p:nvSpPr>
        <p:spPr>
          <a:xfrm>
            <a:off x="1463040" y="4754880"/>
            <a:ext cx="1554480" cy="68580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PRODUCTS</a:t>
            </a:r>
          </a:p>
        </p:txBody>
      </p:sp>
      <p:sp>
        <p:nvSpPr>
          <p:cNvPr id="14" name="Rounded Rectangle 13"/>
          <p:cNvSpPr/>
          <p:nvPr/>
        </p:nvSpPr>
        <p:spPr>
          <a:xfrm>
            <a:off x="3931920" y="4754880"/>
            <a:ext cx="1554480" cy="68580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INVENTORY</a:t>
            </a:r>
          </a:p>
        </p:txBody>
      </p:sp>
      <p:cxnSp>
        <p:nvCxnSpPr>
          <p:cNvPr id="15" name="Connector 14"/>
          <p:cNvCxnSpPr/>
          <p:nvPr/>
        </p:nvCxnSpPr>
        <p:spPr>
          <a:xfrm flipH="1">
            <a:off x="2267712" y="2670048"/>
            <a:ext cx="502920" cy="0"/>
          </a:xfrm>
          <a:prstGeom prst="line">
            <a:avLst/>
          </a:prstGeom>
          <a:ln w="25400">
            <a:solidFill>
              <a:srgbClr val="E548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17320" y="3108960"/>
            <a:ext cx="2194560" cy="320040"/>
          </a:xfrm>
          <a:prstGeom prst="rect">
            <a:avLst/>
          </a:prstGeom>
          <a:noFill/>
        </p:spPr>
        <p:txBody>
          <a:bodyPr wrap="square" anchor="t" lIns="73152" rIns="73152" tIns="36576" bIns="36576">
            <a:spAutoFit/>
          </a:bodyPr>
          <a:lstStyle/>
          <a:p>
            <a:pPr algn="ctr">
              <a:lnSpc>
                <a:spcPct val="110000"/>
              </a:lnSpc>
            </a:pPr>
            <a:r>
              <a:rPr sz="1100" b="1" i="0">
                <a:solidFill>
                  <a:srgbClr val="E5484D"/>
                </a:solidFill>
                <a:latin typeface="Calibri"/>
              </a:rPr>
              <a:t>ORPHAN_ORDER</a:t>
            </a:r>
          </a:p>
        </p:txBody>
      </p:sp>
      <p:cxnSp>
        <p:nvCxnSpPr>
          <p:cNvPr id="17" name="Connector 16"/>
          <p:cNvCxnSpPr/>
          <p:nvPr/>
        </p:nvCxnSpPr>
        <p:spPr>
          <a:xfrm flipH="1">
            <a:off x="4279392" y="2670048"/>
            <a:ext cx="502920" cy="0"/>
          </a:xfrm>
          <a:prstGeom prst="line">
            <a:avLst/>
          </a:prstGeom>
          <a:ln w="25400">
            <a:solidFill>
              <a:srgbClr val="E548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00400" y="3108960"/>
            <a:ext cx="2377440" cy="548640"/>
          </a:xfrm>
          <a:prstGeom prst="rect">
            <a:avLst/>
          </a:prstGeom>
          <a:noFill/>
        </p:spPr>
        <p:txBody>
          <a:bodyPr wrap="square" anchor="t" lIns="73152" rIns="73152" tIns="36576" bIns="36576">
            <a:spAutoFit/>
          </a:bodyPr>
          <a:lstStyle/>
          <a:p>
            <a:pPr algn="ctr">
              <a:lnSpc>
                <a:spcPct val="110000"/>
              </a:lnSpc>
            </a:pPr>
            <a:r>
              <a:rPr sz="1100" b="1" i="0">
                <a:solidFill>
                  <a:srgbClr val="E5484D"/>
                </a:solidFill>
                <a:latin typeface="Calibri"/>
              </a:rPr>
              <a:t>ORPHAN_PAYMENT</a:t>
            </a:r>
          </a:p>
          <a:p>
            <a:pPr algn="ctr">
              <a:lnSpc>
                <a:spcPct val="110000"/>
              </a:lnSpc>
            </a:pPr>
            <a:r>
              <a:rPr sz="1100" b="1" i="0">
                <a:solidFill>
                  <a:srgbClr val="E5484D"/>
                </a:solidFill>
                <a:latin typeface="Calibri"/>
              </a:rPr>
              <a:t>AMOUNT_MISMATCH</a:t>
            </a:r>
          </a:p>
        </p:txBody>
      </p:sp>
      <p:cxnSp>
        <p:nvCxnSpPr>
          <p:cNvPr id="19" name="Connector 18"/>
          <p:cNvCxnSpPr/>
          <p:nvPr/>
        </p:nvCxnSpPr>
        <p:spPr>
          <a:xfrm flipH="1">
            <a:off x="3044952" y="5093208"/>
            <a:ext cx="868680" cy="0"/>
          </a:xfrm>
          <a:prstGeom prst="line">
            <a:avLst/>
          </a:prstGeom>
          <a:ln w="25400">
            <a:solidFill>
              <a:srgbClr val="E548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286000" y="4389120"/>
            <a:ext cx="2377440" cy="320040"/>
          </a:xfrm>
          <a:prstGeom prst="rect">
            <a:avLst/>
          </a:prstGeom>
          <a:noFill/>
        </p:spPr>
        <p:txBody>
          <a:bodyPr wrap="square" anchor="t" lIns="73152" rIns="73152" tIns="36576" bIns="36576">
            <a:spAutoFit/>
          </a:bodyPr>
          <a:lstStyle/>
          <a:p>
            <a:pPr algn="ctr">
              <a:lnSpc>
                <a:spcPct val="110000"/>
              </a:lnSpc>
            </a:pPr>
            <a:r>
              <a:rPr sz="1100" b="1" i="0">
                <a:solidFill>
                  <a:srgbClr val="E5484D"/>
                </a:solidFill>
                <a:latin typeface="Calibri"/>
              </a:rPr>
              <a:t>ORPHAN_INVENTORY</a:t>
            </a:r>
          </a:p>
        </p:txBody>
      </p:sp>
      <p:sp>
        <p:nvSpPr>
          <p:cNvPr id="21" name="TextBox 20"/>
          <p:cNvSpPr txBox="1"/>
          <p:nvPr/>
        </p:nvSpPr>
        <p:spPr>
          <a:xfrm>
            <a:off x="777240" y="5806440"/>
            <a:ext cx="5577840" cy="365760"/>
          </a:xfrm>
          <a:prstGeom prst="rect">
            <a:avLst/>
          </a:prstGeom>
          <a:noFill/>
        </p:spPr>
        <p:txBody>
          <a:bodyPr wrap="square" anchor="t" lIns="73152" rIns="73152" tIns="36576" bIns="36576">
            <a:spAutoFit/>
          </a:bodyPr>
          <a:lstStyle/>
          <a:p>
            <a:pPr algn="l">
              <a:lnSpc>
                <a:spcPct val="110000"/>
              </a:lnSpc>
            </a:pPr>
            <a:r>
              <a:rPr sz="1100" b="0" i="1">
                <a:solidFill>
                  <a:srgbClr val="5B6B7F"/>
                </a:solidFill>
                <a:latin typeface="Calibri"/>
              </a:rPr>
              <a:t>Arrows point from child to parent table</a:t>
            </a:r>
          </a:p>
        </p:txBody>
      </p:sp>
      <p:sp>
        <p:nvSpPr>
          <p:cNvPr id="22" name="Rounded Rectangle 21"/>
          <p:cNvSpPr/>
          <p:nvPr/>
        </p:nvSpPr>
        <p:spPr>
          <a:xfrm>
            <a:off x="6812280" y="1417320"/>
            <a:ext cx="4828032" cy="10972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812280" y="1417320"/>
            <a:ext cx="91440" cy="109728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086600" y="1554480"/>
            <a:ext cx="448056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onsolas"/>
              </a:rPr>
              <a:t>ORPHAN_ORDER</a:t>
            </a:r>
          </a:p>
        </p:txBody>
      </p:sp>
      <p:sp>
        <p:nvSpPr>
          <p:cNvPr id="25" name="TextBox 24"/>
          <p:cNvSpPr txBox="1"/>
          <p:nvPr/>
        </p:nvSpPr>
        <p:spPr>
          <a:xfrm>
            <a:off x="7086600" y="1965960"/>
            <a:ext cx="4480560" cy="457200"/>
          </a:xfrm>
          <a:prstGeom prst="rect">
            <a:avLst/>
          </a:prstGeom>
          <a:noFill/>
        </p:spPr>
        <p:txBody>
          <a:bodyPr wrap="square" anchor="t" lIns="73152" rIns="73152" tIns="36576" bIns="36576">
            <a:spAutoFit/>
          </a:bodyPr>
          <a:lstStyle/>
          <a:p>
            <a:pPr algn="l">
              <a:lnSpc>
                <a:spcPct val="110000"/>
              </a:lnSpc>
            </a:pPr>
            <a:r>
              <a:rPr sz="1400" b="0" i="0">
                <a:solidFill>
                  <a:srgbClr val="5B6B7F"/>
                </a:solidFill>
                <a:latin typeface="Calibri"/>
              </a:rPr>
              <a:t>An order whose customer doesn't exist.</a:t>
            </a:r>
          </a:p>
        </p:txBody>
      </p:sp>
      <p:sp>
        <p:nvSpPr>
          <p:cNvPr id="26" name="Rounded Rectangle 25"/>
          <p:cNvSpPr/>
          <p:nvPr/>
        </p:nvSpPr>
        <p:spPr>
          <a:xfrm>
            <a:off x="6812280" y="2642616"/>
            <a:ext cx="4828032" cy="10972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812280" y="2642616"/>
            <a:ext cx="91440" cy="109728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086600" y="2779776"/>
            <a:ext cx="448056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onsolas"/>
              </a:rPr>
              <a:t>ORPHAN_PAYMENT</a:t>
            </a:r>
          </a:p>
        </p:txBody>
      </p:sp>
      <p:sp>
        <p:nvSpPr>
          <p:cNvPr id="29" name="TextBox 28"/>
          <p:cNvSpPr txBox="1"/>
          <p:nvPr/>
        </p:nvSpPr>
        <p:spPr>
          <a:xfrm>
            <a:off x="7086600" y="3191256"/>
            <a:ext cx="4480560" cy="457200"/>
          </a:xfrm>
          <a:prstGeom prst="rect">
            <a:avLst/>
          </a:prstGeom>
          <a:noFill/>
        </p:spPr>
        <p:txBody>
          <a:bodyPr wrap="square" anchor="t" lIns="73152" rIns="73152" tIns="36576" bIns="36576">
            <a:spAutoFit/>
          </a:bodyPr>
          <a:lstStyle/>
          <a:p>
            <a:pPr algn="l">
              <a:lnSpc>
                <a:spcPct val="110000"/>
              </a:lnSpc>
            </a:pPr>
            <a:r>
              <a:rPr sz="1400" b="0" i="0">
                <a:solidFill>
                  <a:srgbClr val="5B6B7F"/>
                </a:solidFill>
                <a:latin typeface="Calibri"/>
              </a:rPr>
              <a:t>A payment whose order doesn't exist.</a:t>
            </a:r>
          </a:p>
        </p:txBody>
      </p:sp>
      <p:sp>
        <p:nvSpPr>
          <p:cNvPr id="30" name="Rounded Rectangle 29"/>
          <p:cNvSpPr/>
          <p:nvPr/>
        </p:nvSpPr>
        <p:spPr>
          <a:xfrm>
            <a:off x="6812280" y="3867912"/>
            <a:ext cx="4828032" cy="10972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812280" y="3867912"/>
            <a:ext cx="91440" cy="109728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086600" y="4005072"/>
            <a:ext cx="448056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onsolas"/>
              </a:rPr>
              <a:t>PAYMENT_AMOUNT_MISMATCH</a:t>
            </a:r>
          </a:p>
        </p:txBody>
      </p:sp>
      <p:sp>
        <p:nvSpPr>
          <p:cNvPr id="33" name="TextBox 32"/>
          <p:cNvSpPr txBox="1"/>
          <p:nvPr/>
        </p:nvSpPr>
        <p:spPr>
          <a:xfrm>
            <a:off x="7086600" y="4416552"/>
            <a:ext cx="4480560" cy="457200"/>
          </a:xfrm>
          <a:prstGeom prst="rect">
            <a:avLst/>
          </a:prstGeom>
          <a:noFill/>
        </p:spPr>
        <p:txBody>
          <a:bodyPr wrap="square" anchor="t" lIns="73152" rIns="73152" tIns="36576" bIns="36576">
            <a:spAutoFit/>
          </a:bodyPr>
          <a:lstStyle/>
          <a:p>
            <a:pPr algn="l">
              <a:lnSpc>
                <a:spcPct val="110000"/>
              </a:lnSpc>
            </a:pPr>
            <a:r>
              <a:rPr sz="1400" b="0" i="0">
                <a:solidFill>
                  <a:srgbClr val="5B6B7F"/>
                </a:solidFill>
                <a:latin typeface="Calibri"/>
              </a:rPr>
              <a:t>Payment amount ≠ the matching order's amount.</a:t>
            </a:r>
          </a:p>
        </p:txBody>
      </p:sp>
      <p:sp>
        <p:nvSpPr>
          <p:cNvPr id="34" name="Rounded Rectangle 33"/>
          <p:cNvSpPr/>
          <p:nvPr/>
        </p:nvSpPr>
        <p:spPr>
          <a:xfrm>
            <a:off x="6812280" y="5093208"/>
            <a:ext cx="4828032" cy="10972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812280" y="5093208"/>
            <a:ext cx="91440" cy="1097280"/>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086600" y="5230368"/>
            <a:ext cx="448056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onsolas"/>
              </a:rPr>
              <a:t>ORPHAN_INVENTORY</a:t>
            </a:r>
          </a:p>
        </p:txBody>
      </p:sp>
      <p:sp>
        <p:nvSpPr>
          <p:cNvPr id="37" name="TextBox 36"/>
          <p:cNvSpPr txBox="1"/>
          <p:nvPr/>
        </p:nvSpPr>
        <p:spPr>
          <a:xfrm>
            <a:off x="7086600" y="5641848"/>
            <a:ext cx="4480560" cy="457200"/>
          </a:xfrm>
          <a:prstGeom prst="rect">
            <a:avLst/>
          </a:prstGeom>
          <a:noFill/>
        </p:spPr>
        <p:txBody>
          <a:bodyPr wrap="square" anchor="t" lIns="73152" rIns="73152" tIns="36576" bIns="36576">
            <a:spAutoFit/>
          </a:bodyPr>
          <a:lstStyle/>
          <a:p>
            <a:pPr algn="l">
              <a:lnSpc>
                <a:spcPct val="110000"/>
              </a:lnSpc>
            </a:pPr>
            <a:r>
              <a:rPr sz="1400" b="0" i="0">
                <a:solidFill>
                  <a:srgbClr val="5B6B7F"/>
                </a:solidFill>
                <a:latin typeface="Calibri"/>
              </a:rPr>
              <a:t>Stock for a product that doesn't exist.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STREAMS + TASK DAG</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Event-driven orchestration: two loops</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8 / 12</a:t>
            </a:r>
          </a:p>
        </p:txBody>
      </p:sp>
      <p:sp>
        <p:nvSpPr>
          <p:cNvPr id="8" name="Rounded Rectangle 7"/>
          <p:cNvSpPr/>
          <p:nvPr/>
        </p:nvSpPr>
        <p:spPr>
          <a:xfrm>
            <a:off x="548640" y="1371600"/>
            <a:ext cx="11091672" cy="182880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508760"/>
            <a:ext cx="5486400" cy="365760"/>
          </a:xfrm>
          <a:prstGeom prst="rect">
            <a:avLst/>
          </a:prstGeom>
          <a:noFill/>
        </p:spPr>
        <p:txBody>
          <a:bodyPr wrap="square" anchor="t" lIns="73152" rIns="73152" tIns="36576" bIns="36576">
            <a:spAutoFit/>
          </a:bodyPr>
          <a:lstStyle/>
          <a:p>
            <a:pPr algn="l">
              <a:lnSpc>
                <a:spcPct val="110000"/>
              </a:lnSpc>
            </a:pPr>
            <a:r>
              <a:rPr sz="1900" b="1" i="0">
                <a:solidFill>
                  <a:srgbClr val="0B2545"/>
                </a:solidFill>
                <a:latin typeface="Calibri"/>
              </a:rPr>
              <a:t>Loop A: Ingest → Detect</a:t>
            </a:r>
          </a:p>
        </p:txBody>
      </p:sp>
      <p:sp>
        <p:nvSpPr>
          <p:cNvPr id="10" name="Rounded Rectangle 9"/>
          <p:cNvSpPr/>
          <p:nvPr/>
        </p:nvSpPr>
        <p:spPr>
          <a:xfrm>
            <a:off x="8503920" y="1527048"/>
            <a:ext cx="2926080" cy="365760"/>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Fully automatic</a:t>
            </a:r>
          </a:p>
        </p:txBody>
      </p:sp>
      <p:sp>
        <p:nvSpPr>
          <p:cNvPr id="11" name="Rounded Rectangle 10"/>
          <p:cNvSpPr/>
          <p:nvPr/>
        </p:nvSpPr>
        <p:spPr>
          <a:xfrm>
            <a:off x="777240" y="2103120"/>
            <a:ext cx="1264484" cy="82296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File lands</a:t>
            </a:r>
          </a:p>
        </p:txBody>
      </p:sp>
      <p:cxnSp>
        <p:nvCxnSpPr>
          <p:cNvPr id="12" name="Connector 11"/>
          <p:cNvCxnSpPr/>
          <p:nvPr/>
        </p:nvCxnSpPr>
        <p:spPr>
          <a:xfrm>
            <a:off x="2069156" y="251460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334332" y="2103120"/>
            <a:ext cx="1264484" cy="82296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Stream fires</a:t>
            </a:r>
          </a:p>
        </p:txBody>
      </p:sp>
      <p:cxnSp>
        <p:nvCxnSpPr>
          <p:cNvPr id="14" name="Connector 13"/>
          <p:cNvCxnSpPr/>
          <p:nvPr/>
        </p:nvCxnSpPr>
        <p:spPr>
          <a:xfrm>
            <a:off x="3626249" y="251460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91425" y="2103120"/>
            <a:ext cx="1264484" cy="82296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Detect</a:t>
            </a:r>
          </a:p>
        </p:txBody>
      </p:sp>
      <p:cxnSp>
        <p:nvCxnSpPr>
          <p:cNvPr id="16" name="Connector 15"/>
          <p:cNvCxnSpPr/>
          <p:nvPr/>
        </p:nvCxnSpPr>
        <p:spPr>
          <a:xfrm>
            <a:off x="5183341" y="251460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48517" y="2103120"/>
            <a:ext cx="1264484" cy="82296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Score</a:t>
            </a:r>
          </a:p>
        </p:txBody>
      </p:sp>
      <p:cxnSp>
        <p:nvCxnSpPr>
          <p:cNvPr id="18" name="Connector 17"/>
          <p:cNvCxnSpPr/>
          <p:nvPr/>
        </p:nvCxnSpPr>
        <p:spPr>
          <a:xfrm>
            <a:off x="6740434" y="251460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005610" y="2103120"/>
            <a:ext cx="1264484" cy="82296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Rebuild Plan</a:t>
            </a:r>
          </a:p>
        </p:txBody>
      </p:sp>
      <p:cxnSp>
        <p:nvCxnSpPr>
          <p:cNvPr id="20" name="Connector 19"/>
          <p:cNvCxnSpPr/>
          <p:nvPr/>
        </p:nvCxnSpPr>
        <p:spPr>
          <a:xfrm>
            <a:off x="8297526" y="251460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562702" y="2103120"/>
            <a:ext cx="1264484" cy="82296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Analyze</a:t>
            </a:r>
          </a:p>
        </p:txBody>
      </p:sp>
      <p:cxnSp>
        <p:nvCxnSpPr>
          <p:cNvPr id="22" name="Connector 21"/>
          <p:cNvCxnSpPr/>
          <p:nvPr/>
        </p:nvCxnSpPr>
        <p:spPr>
          <a:xfrm>
            <a:off x="9854619" y="251460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119795" y="2103120"/>
            <a:ext cx="1264484" cy="822960"/>
          </a:xfrm>
          <a:prstGeom prst="roundRect">
            <a:avLst>
              <a:gd name="adj" fmla="val 15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Dashboard updates</a:t>
            </a:r>
          </a:p>
        </p:txBody>
      </p:sp>
      <p:sp>
        <p:nvSpPr>
          <p:cNvPr id="24" name="Rounded Rectangle 23"/>
          <p:cNvSpPr/>
          <p:nvPr/>
        </p:nvSpPr>
        <p:spPr>
          <a:xfrm>
            <a:off x="548640" y="3383280"/>
            <a:ext cx="11091672" cy="182880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7240" y="3520440"/>
            <a:ext cx="5486400" cy="365760"/>
          </a:xfrm>
          <a:prstGeom prst="rect">
            <a:avLst/>
          </a:prstGeom>
          <a:noFill/>
        </p:spPr>
        <p:txBody>
          <a:bodyPr wrap="square" anchor="t" lIns="73152" rIns="73152" tIns="36576" bIns="36576">
            <a:spAutoFit/>
          </a:bodyPr>
          <a:lstStyle/>
          <a:p>
            <a:pPr algn="l">
              <a:lnSpc>
                <a:spcPct val="110000"/>
              </a:lnSpc>
            </a:pPr>
            <a:r>
              <a:rPr sz="1900" b="1" i="0">
                <a:solidFill>
                  <a:srgbClr val="0B2545"/>
                </a:solidFill>
                <a:latin typeface="Calibri"/>
              </a:rPr>
              <a:t>Loop B: Human action → Re-clean</a:t>
            </a:r>
          </a:p>
        </p:txBody>
      </p:sp>
      <p:sp>
        <p:nvSpPr>
          <p:cNvPr id="26" name="Rounded Rectangle 25"/>
          <p:cNvSpPr/>
          <p:nvPr/>
        </p:nvSpPr>
        <p:spPr>
          <a:xfrm>
            <a:off x="8503920" y="3538728"/>
            <a:ext cx="2926080" cy="365760"/>
          </a:xfrm>
          <a:prstGeom prst="roundRect">
            <a:avLst>
              <a:gd name="adj" fmla="val 50000"/>
            </a:avLst>
          </a:prstGeom>
          <a:solidFill>
            <a:srgbClr val="FDF1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8A5A00"/>
                </a:solidFill>
                <a:latin typeface="Calibri"/>
              </a:rPr>
              <a:t>Human-gated: never self-fires</a:t>
            </a:r>
          </a:p>
        </p:txBody>
      </p:sp>
      <p:sp>
        <p:nvSpPr>
          <p:cNvPr id="27" name="Rounded Rectangle 26"/>
          <p:cNvSpPr/>
          <p:nvPr/>
        </p:nvSpPr>
        <p:spPr>
          <a:xfrm>
            <a:off x="777240" y="4114800"/>
            <a:ext cx="1887321" cy="822960"/>
          </a:xfrm>
          <a:prstGeom prst="roundRect">
            <a:avLst>
              <a:gd name="adj" fmla="val 15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User clicks Approve</a:t>
            </a:r>
          </a:p>
        </p:txBody>
      </p:sp>
      <p:cxnSp>
        <p:nvCxnSpPr>
          <p:cNvPr id="28" name="Connector 27"/>
          <p:cNvCxnSpPr/>
          <p:nvPr/>
        </p:nvCxnSpPr>
        <p:spPr>
          <a:xfrm>
            <a:off x="2691993" y="452628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2957169" y="4114800"/>
            <a:ext cx="1887321" cy="822960"/>
          </a:xfrm>
          <a:prstGeom prst="roundRect">
            <a:avLst>
              <a:gd name="adj" fmla="val 15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Remediate (stream-safe)</a:t>
            </a:r>
          </a:p>
        </p:txBody>
      </p:sp>
      <p:cxnSp>
        <p:nvCxnSpPr>
          <p:cNvPr id="30" name="Connector 29"/>
          <p:cNvCxnSpPr/>
          <p:nvPr/>
        </p:nvCxnSpPr>
        <p:spPr>
          <a:xfrm>
            <a:off x="4871923" y="452628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137099" y="4114800"/>
            <a:ext cx="1887321" cy="822960"/>
          </a:xfrm>
          <a:prstGeom prst="roundRect">
            <a:avLst>
              <a:gd name="adj" fmla="val 15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Validate</a:t>
            </a:r>
          </a:p>
        </p:txBody>
      </p:sp>
      <p:cxnSp>
        <p:nvCxnSpPr>
          <p:cNvPr id="32" name="Connector 31"/>
          <p:cNvCxnSpPr/>
          <p:nvPr/>
        </p:nvCxnSpPr>
        <p:spPr>
          <a:xfrm>
            <a:off x="7051852" y="452628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317028" y="4114800"/>
            <a:ext cx="1887321" cy="822960"/>
          </a:xfrm>
          <a:prstGeom prst="roundRect">
            <a:avLst>
              <a:gd name="adj" fmla="val 15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Govern</a:t>
            </a:r>
          </a:p>
        </p:txBody>
      </p:sp>
      <p:cxnSp>
        <p:nvCxnSpPr>
          <p:cNvPr id="34" name="Connector 33"/>
          <p:cNvCxnSpPr/>
          <p:nvPr/>
        </p:nvCxnSpPr>
        <p:spPr>
          <a:xfrm>
            <a:off x="9231782" y="4526280"/>
            <a:ext cx="237744" cy="0"/>
          </a:xfrm>
          <a:prstGeom prst="line">
            <a:avLst/>
          </a:prstGeom>
          <a:ln w="22225">
            <a:solidFill>
              <a:srgbClr val="5B6B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496958" y="4114800"/>
            <a:ext cx="1887321" cy="822960"/>
          </a:xfrm>
          <a:prstGeom prst="roundRect">
            <a:avLst>
              <a:gd name="adj" fmla="val 15000"/>
            </a:avLst>
          </a:prstGeom>
          <a:solidFill>
            <a:srgbClr val="1156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300" b="1" i="0">
                <a:solidFill>
                  <a:srgbClr val="FFFFFF"/>
                </a:solidFill>
                <a:latin typeface="Calibri"/>
              </a:rPr>
              <a:t>Dashboard updates</a:t>
            </a:r>
          </a:p>
        </p:txBody>
      </p:sp>
      <p:sp>
        <p:nvSpPr>
          <p:cNvPr id="36" name="Rounded Rectangle 35"/>
          <p:cNvSpPr/>
          <p:nvPr/>
        </p:nvSpPr>
        <p:spPr>
          <a:xfrm>
            <a:off x="548640" y="5440680"/>
            <a:ext cx="1828800" cy="868680"/>
          </a:xfrm>
          <a:prstGeom prst="roundRect">
            <a:avLst>
              <a:gd name="adj" fmla="val 8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40080" y="5486400"/>
            <a:ext cx="1645920" cy="457200"/>
          </a:xfrm>
          <a:prstGeom prst="rect">
            <a:avLst/>
          </a:prstGeom>
          <a:noFill/>
        </p:spPr>
        <p:txBody>
          <a:bodyPr wrap="square" anchor="ctr" lIns="73152" rIns="73152" tIns="36576" bIns="36576">
            <a:spAutoFit/>
          </a:bodyPr>
          <a:lstStyle/>
          <a:p>
            <a:pPr algn="ctr">
              <a:lnSpc>
                <a:spcPct val="110000"/>
              </a:lnSpc>
            </a:pPr>
            <a:r>
              <a:rPr sz="2400" b="1" i="0">
                <a:solidFill>
                  <a:srgbClr val="0B2545"/>
                </a:solidFill>
                <a:latin typeface="Calibri"/>
              </a:rPr>
              <a:t>6</a:t>
            </a:r>
          </a:p>
        </p:txBody>
      </p:sp>
      <p:sp>
        <p:nvSpPr>
          <p:cNvPr id="38" name="TextBox 37"/>
          <p:cNvSpPr txBox="1"/>
          <p:nvPr/>
        </p:nvSpPr>
        <p:spPr>
          <a:xfrm>
            <a:off x="640080" y="5925312"/>
            <a:ext cx="1645920" cy="320040"/>
          </a:xfrm>
          <a:prstGeom prst="rect">
            <a:avLst/>
          </a:prstGeom>
          <a:noFill/>
        </p:spPr>
        <p:txBody>
          <a:bodyPr wrap="square" anchor="t" lIns="73152" rIns="73152" tIns="36576" bIns="36576">
            <a:spAutoFit/>
          </a:bodyPr>
          <a:lstStyle/>
          <a:p>
            <a:pPr algn="ctr">
              <a:lnSpc>
                <a:spcPct val="110000"/>
              </a:lnSpc>
            </a:pPr>
            <a:r>
              <a:rPr sz="1200" b="0" i="0">
                <a:solidFill>
                  <a:srgbClr val="11567F"/>
                </a:solidFill>
                <a:latin typeface="Calibri"/>
              </a:rPr>
              <a:t>Streams</a:t>
            </a:r>
          </a:p>
        </p:txBody>
      </p:sp>
      <p:sp>
        <p:nvSpPr>
          <p:cNvPr id="39" name="Rounded Rectangle 38"/>
          <p:cNvSpPr/>
          <p:nvPr/>
        </p:nvSpPr>
        <p:spPr>
          <a:xfrm>
            <a:off x="2514600" y="5440680"/>
            <a:ext cx="1828800" cy="868680"/>
          </a:xfrm>
          <a:prstGeom prst="roundRect">
            <a:avLst>
              <a:gd name="adj" fmla="val 8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606040" y="5486400"/>
            <a:ext cx="1645920" cy="457200"/>
          </a:xfrm>
          <a:prstGeom prst="rect">
            <a:avLst/>
          </a:prstGeom>
          <a:noFill/>
        </p:spPr>
        <p:txBody>
          <a:bodyPr wrap="square" anchor="ctr" lIns="73152" rIns="73152" tIns="36576" bIns="36576">
            <a:spAutoFit/>
          </a:bodyPr>
          <a:lstStyle/>
          <a:p>
            <a:pPr algn="ctr">
              <a:lnSpc>
                <a:spcPct val="110000"/>
              </a:lnSpc>
            </a:pPr>
            <a:r>
              <a:rPr sz="2400" b="1" i="0">
                <a:solidFill>
                  <a:srgbClr val="0B2545"/>
                </a:solidFill>
                <a:latin typeface="Calibri"/>
              </a:rPr>
              <a:t>7</a:t>
            </a:r>
          </a:p>
        </p:txBody>
      </p:sp>
      <p:sp>
        <p:nvSpPr>
          <p:cNvPr id="41" name="TextBox 40"/>
          <p:cNvSpPr txBox="1"/>
          <p:nvPr/>
        </p:nvSpPr>
        <p:spPr>
          <a:xfrm>
            <a:off x="2606040" y="5925312"/>
            <a:ext cx="1645920" cy="320040"/>
          </a:xfrm>
          <a:prstGeom prst="rect">
            <a:avLst/>
          </a:prstGeom>
          <a:noFill/>
        </p:spPr>
        <p:txBody>
          <a:bodyPr wrap="square" anchor="t" lIns="73152" rIns="73152" tIns="36576" bIns="36576">
            <a:spAutoFit/>
          </a:bodyPr>
          <a:lstStyle/>
          <a:p>
            <a:pPr algn="ctr">
              <a:lnSpc>
                <a:spcPct val="110000"/>
              </a:lnSpc>
            </a:pPr>
            <a:r>
              <a:rPr sz="1200" b="0" i="0">
                <a:solidFill>
                  <a:srgbClr val="11567F"/>
                </a:solidFill>
                <a:latin typeface="Calibri"/>
              </a:rPr>
              <a:t>Tasks</a:t>
            </a:r>
          </a:p>
        </p:txBody>
      </p:sp>
      <p:sp>
        <p:nvSpPr>
          <p:cNvPr id="42" name="Rounded Rectangle 41"/>
          <p:cNvSpPr/>
          <p:nvPr/>
        </p:nvSpPr>
        <p:spPr>
          <a:xfrm>
            <a:off x="4480560" y="5440680"/>
            <a:ext cx="2331720" cy="868680"/>
          </a:xfrm>
          <a:prstGeom prst="roundRect">
            <a:avLst>
              <a:gd name="adj" fmla="val 8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572000" y="5486400"/>
            <a:ext cx="2148839" cy="457200"/>
          </a:xfrm>
          <a:prstGeom prst="rect">
            <a:avLst/>
          </a:prstGeom>
          <a:noFill/>
        </p:spPr>
        <p:txBody>
          <a:bodyPr wrap="square" anchor="ctr" lIns="73152" rIns="73152" tIns="36576" bIns="36576">
            <a:spAutoFit/>
          </a:bodyPr>
          <a:lstStyle/>
          <a:p>
            <a:pPr algn="ctr">
              <a:lnSpc>
                <a:spcPct val="110000"/>
              </a:lnSpc>
            </a:pPr>
            <a:r>
              <a:rPr sz="2400" b="1" i="0">
                <a:solidFill>
                  <a:srgbClr val="0B2545"/>
                </a:solidFill>
                <a:latin typeface="Calibri"/>
              </a:rPr>
              <a:t>18</a:t>
            </a:r>
          </a:p>
        </p:txBody>
      </p:sp>
      <p:sp>
        <p:nvSpPr>
          <p:cNvPr id="44" name="TextBox 43"/>
          <p:cNvSpPr txBox="1"/>
          <p:nvPr/>
        </p:nvSpPr>
        <p:spPr>
          <a:xfrm>
            <a:off x="4572000" y="5925312"/>
            <a:ext cx="2148839" cy="320040"/>
          </a:xfrm>
          <a:prstGeom prst="rect">
            <a:avLst/>
          </a:prstGeom>
          <a:noFill/>
        </p:spPr>
        <p:txBody>
          <a:bodyPr wrap="square" anchor="t" lIns="73152" rIns="73152" tIns="36576" bIns="36576">
            <a:spAutoFit/>
          </a:bodyPr>
          <a:lstStyle/>
          <a:p>
            <a:pPr algn="ctr">
              <a:lnSpc>
                <a:spcPct val="110000"/>
              </a:lnSpc>
            </a:pPr>
            <a:r>
              <a:rPr sz="1200" b="0" i="0">
                <a:solidFill>
                  <a:srgbClr val="11567F"/>
                </a:solidFill>
                <a:latin typeface="Calibri"/>
              </a:rPr>
              <a:t>Stored procedures</a:t>
            </a:r>
          </a:p>
        </p:txBody>
      </p:sp>
      <p:sp>
        <p:nvSpPr>
          <p:cNvPr id="45" name="Rounded Rectangle 44"/>
          <p:cNvSpPr/>
          <p:nvPr/>
        </p:nvSpPr>
        <p:spPr>
          <a:xfrm>
            <a:off x="6949440" y="5440680"/>
            <a:ext cx="4690872" cy="868680"/>
          </a:xfrm>
          <a:prstGeom prst="roundRect">
            <a:avLst>
              <a:gd name="adj" fmla="val 8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040879" y="5486400"/>
            <a:ext cx="4507992" cy="457200"/>
          </a:xfrm>
          <a:prstGeom prst="rect">
            <a:avLst/>
          </a:prstGeom>
          <a:noFill/>
        </p:spPr>
        <p:txBody>
          <a:bodyPr wrap="square" anchor="ctr" lIns="73152" rIns="73152" tIns="36576" bIns="36576">
            <a:spAutoFit/>
          </a:bodyPr>
          <a:lstStyle/>
          <a:p>
            <a:pPr algn="ctr">
              <a:lnSpc>
                <a:spcPct val="110000"/>
              </a:lnSpc>
            </a:pPr>
            <a:r>
              <a:rPr sz="1500" b="1" i="0">
                <a:solidFill>
                  <a:srgbClr val="0B2545"/>
                </a:solidFill>
                <a:latin typeface="Consolas"/>
              </a:rPr>
              <a:t>SYSTEM$STREAM_HAS_DATA</a:t>
            </a:r>
          </a:p>
        </p:txBody>
      </p:sp>
      <p:sp>
        <p:nvSpPr>
          <p:cNvPr id="47" name="TextBox 46"/>
          <p:cNvSpPr txBox="1"/>
          <p:nvPr/>
        </p:nvSpPr>
        <p:spPr>
          <a:xfrm>
            <a:off x="7040879" y="5925312"/>
            <a:ext cx="4507992" cy="320040"/>
          </a:xfrm>
          <a:prstGeom prst="rect">
            <a:avLst/>
          </a:prstGeom>
          <a:noFill/>
        </p:spPr>
        <p:txBody>
          <a:bodyPr wrap="square" anchor="t" lIns="73152" rIns="73152" tIns="36576" bIns="36576">
            <a:spAutoFit/>
          </a:bodyPr>
          <a:lstStyle/>
          <a:p>
            <a:pPr algn="ctr">
              <a:lnSpc>
                <a:spcPct val="110000"/>
              </a:lnSpc>
            </a:pPr>
            <a:r>
              <a:rPr sz="1200" b="0" i="0">
                <a:solidFill>
                  <a:srgbClr val="11567F"/>
                </a:solidFill>
                <a:latin typeface="Calibri"/>
              </a:rPr>
              <a:t>gating: a cheap no-op when idle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SAFE AUTONOMY</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Responsible AI, by design</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9 / 12</a:t>
            </a:r>
          </a:p>
        </p:txBody>
      </p:sp>
      <p:sp>
        <p:nvSpPr>
          <p:cNvPr id="8" name="Rounded Rectangle 7"/>
          <p:cNvSpPr/>
          <p:nvPr/>
        </p:nvSpPr>
        <p:spPr>
          <a:xfrm>
            <a:off x="548640" y="1371600"/>
            <a:ext cx="457200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13232" y="1554480"/>
            <a:ext cx="502920" cy="502920"/>
          </a:xfrm>
          <a:prstGeom prst="ellipse">
            <a:avLst/>
          </a:prstGeom>
          <a:solidFill>
            <a:srgbClr val="2BB6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800" b="1" i="0">
                <a:solidFill>
                  <a:srgbClr val="FFFFFF"/>
                </a:solidFill>
                <a:latin typeface="Calibri"/>
              </a:rPr>
              <a:t>✓</a:t>
            </a:r>
          </a:p>
        </p:txBody>
      </p:sp>
      <p:sp>
        <p:nvSpPr>
          <p:cNvPr id="10" name="TextBox 9"/>
          <p:cNvSpPr txBox="1"/>
          <p:nvPr/>
        </p:nvSpPr>
        <p:spPr>
          <a:xfrm>
            <a:off x="1371600" y="1444752"/>
            <a:ext cx="365760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Human-in-the-loop</a:t>
            </a:r>
          </a:p>
        </p:txBody>
      </p:sp>
      <p:sp>
        <p:nvSpPr>
          <p:cNvPr id="11" name="TextBox 10"/>
          <p:cNvSpPr txBox="1"/>
          <p:nvPr/>
        </p:nvSpPr>
        <p:spPr>
          <a:xfrm>
            <a:off x="1371600" y="1801368"/>
            <a:ext cx="365760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Every high-risk fix needs explicit approval.</a:t>
            </a:r>
          </a:p>
        </p:txBody>
      </p:sp>
      <p:sp>
        <p:nvSpPr>
          <p:cNvPr id="12" name="Rounded Rectangle 11"/>
          <p:cNvSpPr/>
          <p:nvPr/>
        </p:nvSpPr>
        <p:spPr>
          <a:xfrm>
            <a:off x="548640" y="2359152"/>
            <a:ext cx="457200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13232" y="2542032"/>
            <a:ext cx="502920" cy="502920"/>
          </a:xfrm>
          <a:prstGeom prst="ellipse">
            <a:avLst/>
          </a:prstGeom>
          <a:solidFill>
            <a:srgbClr val="2BB6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800" b="1" i="0">
                <a:solidFill>
                  <a:srgbClr val="FFFFFF"/>
                </a:solidFill>
                <a:latin typeface="Calibri"/>
              </a:rPr>
              <a:t>✓</a:t>
            </a:r>
          </a:p>
        </p:txBody>
      </p:sp>
      <p:sp>
        <p:nvSpPr>
          <p:cNvPr id="14" name="TextBox 13"/>
          <p:cNvSpPr txBox="1"/>
          <p:nvPr/>
        </p:nvSpPr>
        <p:spPr>
          <a:xfrm>
            <a:off x="1371600" y="2432304"/>
            <a:ext cx="365760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Quarantine, never delete</a:t>
            </a:r>
          </a:p>
        </p:txBody>
      </p:sp>
      <p:sp>
        <p:nvSpPr>
          <p:cNvPr id="15" name="TextBox 14"/>
          <p:cNvSpPr txBox="1"/>
          <p:nvPr/>
        </p:nvSpPr>
        <p:spPr>
          <a:xfrm>
            <a:off x="1371600" y="2788920"/>
            <a:ext cx="365760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Bad rows are preserved for review.</a:t>
            </a:r>
          </a:p>
        </p:txBody>
      </p:sp>
      <p:sp>
        <p:nvSpPr>
          <p:cNvPr id="16" name="Rounded Rectangle 15"/>
          <p:cNvSpPr/>
          <p:nvPr/>
        </p:nvSpPr>
        <p:spPr>
          <a:xfrm>
            <a:off x="548640" y="3346704"/>
            <a:ext cx="457200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13232" y="3529584"/>
            <a:ext cx="502920" cy="502920"/>
          </a:xfrm>
          <a:prstGeom prst="ellipse">
            <a:avLst/>
          </a:prstGeom>
          <a:solidFill>
            <a:srgbClr val="2BB6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800" b="1" i="0">
                <a:solidFill>
                  <a:srgbClr val="FFFFFF"/>
                </a:solidFill>
                <a:latin typeface="Calibri"/>
              </a:rPr>
              <a:t>✓</a:t>
            </a:r>
          </a:p>
        </p:txBody>
      </p:sp>
      <p:sp>
        <p:nvSpPr>
          <p:cNvPr id="18" name="TextBox 17"/>
          <p:cNvSpPr txBox="1"/>
          <p:nvPr/>
        </p:nvSpPr>
        <p:spPr>
          <a:xfrm>
            <a:off x="1371600" y="3419856"/>
            <a:ext cx="365760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Deterministic fix SQL</a:t>
            </a:r>
          </a:p>
        </p:txBody>
      </p:sp>
      <p:sp>
        <p:nvSpPr>
          <p:cNvPr id="19" name="TextBox 18"/>
          <p:cNvSpPr txBox="1"/>
          <p:nvPr/>
        </p:nvSpPr>
        <p:spPr>
          <a:xfrm>
            <a:off x="1371600" y="3776472"/>
            <a:ext cx="365760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No AI-generated code executes blindly.</a:t>
            </a:r>
          </a:p>
        </p:txBody>
      </p:sp>
      <p:sp>
        <p:nvSpPr>
          <p:cNvPr id="20" name="Rounded Rectangle 19"/>
          <p:cNvSpPr/>
          <p:nvPr/>
        </p:nvSpPr>
        <p:spPr>
          <a:xfrm>
            <a:off x="548640" y="4334256"/>
            <a:ext cx="457200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713232" y="4517136"/>
            <a:ext cx="502920" cy="502920"/>
          </a:xfrm>
          <a:prstGeom prst="ellipse">
            <a:avLst/>
          </a:prstGeom>
          <a:solidFill>
            <a:srgbClr val="2BB6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800" b="1" i="0">
                <a:solidFill>
                  <a:srgbClr val="FFFFFF"/>
                </a:solidFill>
                <a:latin typeface="Calibri"/>
              </a:rPr>
              <a:t>✓</a:t>
            </a:r>
          </a:p>
        </p:txBody>
      </p:sp>
      <p:sp>
        <p:nvSpPr>
          <p:cNvPr id="22" name="TextBox 21"/>
          <p:cNvSpPr txBox="1"/>
          <p:nvPr/>
        </p:nvSpPr>
        <p:spPr>
          <a:xfrm>
            <a:off x="1371600" y="4407408"/>
            <a:ext cx="365760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Stream-safe remediation</a:t>
            </a:r>
          </a:p>
        </p:txBody>
      </p:sp>
      <p:sp>
        <p:nvSpPr>
          <p:cNvPr id="23" name="TextBox 22"/>
          <p:cNvSpPr txBox="1"/>
          <p:nvPr/>
        </p:nvSpPr>
        <p:spPr>
          <a:xfrm>
            <a:off x="1371600" y="4764024"/>
            <a:ext cx="365760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Dedup uses TRUNCATE + INSERT, never drops tables.</a:t>
            </a:r>
          </a:p>
        </p:txBody>
      </p:sp>
      <p:sp>
        <p:nvSpPr>
          <p:cNvPr id="24" name="Rounded Rectangle 23"/>
          <p:cNvSpPr/>
          <p:nvPr/>
        </p:nvSpPr>
        <p:spPr>
          <a:xfrm>
            <a:off x="548640" y="5321808"/>
            <a:ext cx="457200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13232" y="5504688"/>
            <a:ext cx="502920" cy="502920"/>
          </a:xfrm>
          <a:prstGeom prst="ellipse">
            <a:avLst/>
          </a:prstGeom>
          <a:solidFill>
            <a:srgbClr val="2BB67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800" b="1" i="0">
                <a:solidFill>
                  <a:srgbClr val="FFFFFF"/>
                </a:solidFill>
                <a:latin typeface="Calibri"/>
              </a:rPr>
              <a:t>✓</a:t>
            </a:r>
          </a:p>
        </p:txBody>
      </p:sp>
      <p:sp>
        <p:nvSpPr>
          <p:cNvPr id="26" name="TextBox 25"/>
          <p:cNvSpPr txBox="1"/>
          <p:nvPr/>
        </p:nvSpPr>
        <p:spPr>
          <a:xfrm>
            <a:off x="1371600" y="5394960"/>
            <a:ext cx="365760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Full governance log</a:t>
            </a:r>
          </a:p>
        </p:txBody>
      </p:sp>
      <p:sp>
        <p:nvSpPr>
          <p:cNvPr id="27" name="TextBox 26"/>
          <p:cNvSpPr txBox="1"/>
          <p:nvPr/>
        </p:nvSpPr>
        <p:spPr>
          <a:xfrm>
            <a:off x="1371600" y="5751576"/>
            <a:ext cx="365760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Every agent action is recorded with an actor.</a:t>
            </a:r>
          </a:p>
        </p:txBody>
      </p:sp>
      <p:pic>
        <p:nvPicPr>
          <p:cNvPr id="28" name="Picture 27" descr="6. Governance Log.png"/>
          <p:cNvPicPr>
            <a:picLocks noChangeAspect="1"/>
          </p:cNvPicPr>
          <p:nvPr/>
        </p:nvPicPr>
        <p:blipFill>
          <a:blip r:embed="rId2"/>
          <a:stretch>
            <a:fillRect/>
          </a:stretch>
        </p:blipFill>
        <p:spPr>
          <a:xfrm>
            <a:off x="5440680" y="1371600"/>
            <a:ext cx="6199632" cy="3653415"/>
          </a:xfrm>
          <a:prstGeom prst="rect">
            <a:avLst/>
          </a:prstGeom>
          <a:ln w="12700">
            <a:solidFill>
              <a:srgbClr val="D6E2EE"/>
            </a:solidFill>
          </a:ln>
        </p:spPr>
      </p:pic>
      <p:sp>
        <p:nvSpPr>
          <p:cNvPr id="29" name="TextBox 28"/>
          <p:cNvSpPr txBox="1"/>
          <p:nvPr/>
        </p:nvSpPr>
        <p:spPr>
          <a:xfrm>
            <a:off x="5440680" y="5074920"/>
            <a:ext cx="6199632" cy="365760"/>
          </a:xfrm>
          <a:prstGeom prst="rect">
            <a:avLst/>
          </a:prstGeom>
          <a:noFill/>
        </p:spPr>
        <p:txBody>
          <a:bodyPr wrap="square" anchor="t" lIns="73152" rIns="73152" tIns="36576" bIns="36576">
            <a:spAutoFit/>
          </a:bodyPr>
          <a:lstStyle/>
          <a:p>
            <a:pPr algn="ctr">
              <a:lnSpc>
                <a:spcPct val="110000"/>
              </a:lnSpc>
            </a:pPr>
            <a:r>
              <a:rPr sz="1200" b="0" i="1">
                <a:solidFill>
                  <a:srgbClr val="5B6B7F"/>
                </a:solidFill>
                <a:latin typeface="Calibri"/>
              </a:rPr>
              <a:t>Governance Log: an immutable audit trail of every agent action and approval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IMPACT</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Results: every table moves from HIGH risk to LOW</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10 / 12</a:t>
            </a:r>
          </a:p>
        </p:txBody>
      </p:sp>
      <p:sp>
        <p:nvSpPr>
          <p:cNvPr id="8" name="Rounded Rectangle 7"/>
          <p:cNvSpPr/>
          <p:nvPr/>
        </p:nvSpPr>
        <p:spPr>
          <a:xfrm>
            <a:off x="548640" y="1371600"/>
            <a:ext cx="7589520" cy="493776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9" name="Chart 8"/>
          <p:cNvGraphicFramePr>
            <a:graphicFrameLocks noGrp="1"/>
          </p:cNvGraphicFramePr>
          <p:nvPr/>
        </p:nvGraphicFramePr>
        <p:xfrm>
          <a:off x="685800" y="1508760"/>
          <a:ext cx="7315200" cy="4663440"/>
        </p:xfrm>
        <a:graphic>
          <a:graphicData uri="http://schemas.openxmlformats.org/drawingml/2006/chart">
            <c:chart xmlns:c="http://schemas.openxmlformats.org/drawingml/2006/chart" r:id="rId2"/>
          </a:graphicData>
        </a:graphic>
      </p:graphicFrame>
      <p:sp>
        <p:nvSpPr>
          <p:cNvPr id="10" name="Rounded Rectangle 9"/>
          <p:cNvSpPr/>
          <p:nvPr/>
        </p:nvSpPr>
        <p:spPr>
          <a:xfrm>
            <a:off x="8366760" y="1371600"/>
            <a:ext cx="3273552" cy="224028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508760"/>
            <a:ext cx="3017520" cy="365760"/>
          </a:xfrm>
          <a:prstGeom prst="rect">
            <a:avLst/>
          </a:prstGeom>
          <a:noFill/>
        </p:spPr>
        <p:txBody>
          <a:bodyPr wrap="square" anchor="t" lIns="73152" rIns="73152" tIns="36576" bIns="36576">
            <a:spAutoFit/>
          </a:bodyPr>
          <a:lstStyle/>
          <a:p>
            <a:pPr algn="ctr">
              <a:lnSpc>
                <a:spcPct val="110000"/>
              </a:lnSpc>
            </a:pPr>
            <a:r>
              <a:rPr sz="1200" b="1" i="0">
                <a:solidFill>
                  <a:srgbClr val="29B5E8"/>
                </a:solidFill>
                <a:latin typeface="Calibri"/>
              </a:rPr>
              <a:t>OVERALL TRUST SCORE</a:t>
            </a:r>
          </a:p>
        </p:txBody>
      </p:sp>
      <p:sp>
        <p:nvSpPr>
          <p:cNvPr id="12" name="TextBox 11"/>
          <p:cNvSpPr txBox="1"/>
          <p:nvPr/>
        </p:nvSpPr>
        <p:spPr>
          <a:xfrm>
            <a:off x="8412480" y="1920240"/>
            <a:ext cx="3200400" cy="914400"/>
          </a:xfrm>
          <a:prstGeom prst="rect">
            <a:avLst/>
          </a:prstGeom>
          <a:noFill/>
        </p:spPr>
        <p:txBody>
          <a:bodyPr wrap="square" anchor="t" lIns="73152" rIns="73152" tIns="36576" bIns="36576">
            <a:spAutoFit/>
          </a:bodyPr>
          <a:lstStyle/>
          <a:p>
            <a:pPr algn="ctr">
              <a:lnSpc>
                <a:spcPct val="110000"/>
              </a:lnSpc>
            </a:pPr>
            <a:r>
              <a:rPr sz="4400" b="1" i="0">
                <a:solidFill>
                  <a:srgbClr val="FF8A8E"/>
                </a:solidFill>
                <a:latin typeface="Calibri"/>
              </a:rPr>
              <a:t>62</a:t>
            </a:r>
            <a:r>
              <a:rPr sz="2800" b="1" i="0">
                <a:solidFill>
                  <a:srgbClr val="FFFFFF"/>
                </a:solidFill>
                <a:latin typeface="Calibri"/>
              </a:rPr>
              <a:t> → </a:t>
            </a:r>
            <a:r>
              <a:rPr sz="4400" b="1" i="0">
                <a:solidFill>
                  <a:srgbClr val="29B5E8"/>
                </a:solidFill>
                <a:latin typeface="Calibri"/>
              </a:rPr>
              <a:t>~100</a:t>
            </a:r>
          </a:p>
        </p:txBody>
      </p:sp>
      <p:sp>
        <p:nvSpPr>
          <p:cNvPr id="13" name="TextBox 12"/>
          <p:cNvSpPr txBox="1"/>
          <p:nvPr/>
        </p:nvSpPr>
        <p:spPr>
          <a:xfrm>
            <a:off x="8503920" y="2880360"/>
            <a:ext cx="3017520" cy="548640"/>
          </a:xfrm>
          <a:prstGeom prst="rect">
            <a:avLst/>
          </a:prstGeom>
          <a:noFill/>
        </p:spPr>
        <p:txBody>
          <a:bodyPr wrap="square" anchor="t" lIns="73152" rIns="73152" tIns="36576" bIns="36576">
            <a:spAutoFit/>
          </a:bodyPr>
          <a:lstStyle/>
          <a:p>
            <a:pPr algn="ctr">
              <a:lnSpc>
                <a:spcPct val="110000"/>
              </a:lnSpc>
            </a:pPr>
            <a:r>
              <a:rPr sz="1300" b="0" i="0">
                <a:solidFill>
                  <a:srgbClr val="C9D6E6"/>
                </a:solidFill>
                <a:latin typeface="Calibri"/>
              </a:rPr>
              <a:t>after one human approval</a:t>
            </a:r>
          </a:p>
        </p:txBody>
      </p:sp>
      <p:sp>
        <p:nvSpPr>
          <p:cNvPr id="14" name="Rounded Rectangle 13"/>
          <p:cNvSpPr/>
          <p:nvPr/>
        </p:nvSpPr>
        <p:spPr>
          <a:xfrm>
            <a:off x="8366760" y="3794760"/>
            <a:ext cx="3273552" cy="749808"/>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58200" y="3840480"/>
            <a:ext cx="1143000" cy="658368"/>
          </a:xfrm>
          <a:prstGeom prst="rect">
            <a:avLst/>
          </a:prstGeom>
          <a:noFill/>
        </p:spPr>
        <p:txBody>
          <a:bodyPr wrap="square" anchor="ctr" lIns="73152" rIns="73152" tIns="36576" bIns="36576">
            <a:spAutoFit/>
          </a:bodyPr>
          <a:lstStyle/>
          <a:p>
            <a:pPr algn="ctr">
              <a:lnSpc>
                <a:spcPct val="110000"/>
              </a:lnSpc>
            </a:pPr>
            <a:r>
              <a:rPr sz="2000" b="1" i="0">
                <a:solidFill>
                  <a:srgbClr val="11567F"/>
                </a:solidFill>
                <a:latin typeface="Calibri"/>
              </a:rPr>
              <a:t>5 / 5</a:t>
            </a:r>
          </a:p>
        </p:txBody>
      </p:sp>
      <p:sp>
        <p:nvSpPr>
          <p:cNvPr id="16" name="TextBox 15"/>
          <p:cNvSpPr txBox="1"/>
          <p:nvPr/>
        </p:nvSpPr>
        <p:spPr>
          <a:xfrm>
            <a:off x="9601200" y="3840480"/>
            <a:ext cx="1965960" cy="658368"/>
          </a:xfrm>
          <a:prstGeom prst="rect">
            <a:avLst/>
          </a:prstGeom>
          <a:noFill/>
        </p:spPr>
        <p:txBody>
          <a:bodyPr wrap="square" anchor="ctr" lIns="73152" rIns="73152" tIns="36576" bIns="36576">
            <a:spAutoFit/>
          </a:bodyPr>
          <a:lstStyle/>
          <a:p>
            <a:pPr algn="l">
              <a:lnSpc>
                <a:spcPct val="110000"/>
              </a:lnSpc>
            </a:pPr>
            <a:r>
              <a:rPr sz="1200" b="0" i="0">
                <a:solidFill>
                  <a:srgbClr val="1F2D3D"/>
                </a:solidFill>
                <a:latin typeface="Calibri"/>
              </a:rPr>
              <a:t>tables HIGH → LOW risk</a:t>
            </a:r>
          </a:p>
        </p:txBody>
      </p:sp>
      <p:sp>
        <p:nvSpPr>
          <p:cNvPr id="17" name="Rounded Rectangle 16"/>
          <p:cNvSpPr/>
          <p:nvPr/>
        </p:nvSpPr>
        <p:spPr>
          <a:xfrm>
            <a:off x="8366760" y="4645152"/>
            <a:ext cx="3273552" cy="749808"/>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58200" y="4690872"/>
            <a:ext cx="1143000" cy="658368"/>
          </a:xfrm>
          <a:prstGeom prst="rect">
            <a:avLst/>
          </a:prstGeom>
          <a:noFill/>
        </p:spPr>
        <p:txBody>
          <a:bodyPr wrap="square" anchor="ctr" lIns="73152" rIns="73152" tIns="36576" bIns="36576">
            <a:spAutoFit/>
          </a:bodyPr>
          <a:lstStyle/>
          <a:p>
            <a:pPr algn="ctr">
              <a:lnSpc>
                <a:spcPct val="110000"/>
              </a:lnSpc>
            </a:pPr>
            <a:r>
              <a:rPr sz="2000" b="1" i="0">
                <a:solidFill>
                  <a:srgbClr val="11567F"/>
                </a:solidFill>
                <a:latin typeface="Calibri"/>
              </a:rPr>
              <a:t>0</a:t>
            </a:r>
          </a:p>
        </p:txBody>
      </p:sp>
      <p:sp>
        <p:nvSpPr>
          <p:cNvPr id="19" name="TextBox 18"/>
          <p:cNvSpPr txBox="1"/>
          <p:nvPr/>
        </p:nvSpPr>
        <p:spPr>
          <a:xfrm>
            <a:off x="9601200" y="4690872"/>
            <a:ext cx="1965960" cy="658368"/>
          </a:xfrm>
          <a:prstGeom prst="rect">
            <a:avLst/>
          </a:prstGeom>
          <a:noFill/>
        </p:spPr>
        <p:txBody>
          <a:bodyPr wrap="square" anchor="ctr" lIns="73152" rIns="73152" tIns="36576" bIns="36576">
            <a:spAutoFit/>
          </a:bodyPr>
          <a:lstStyle/>
          <a:p>
            <a:pPr algn="l">
              <a:lnSpc>
                <a:spcPct val="110000"/>
              </a:lnSpc>
            </a:pPr>
            <a:r>
              <a:rPr sz="1200" b="0" i="0">
                <a:solidFill>
                  <a:srgbClr val="1F2D3D"/>
                </a:solidFill>
                <a:latin typeface="Calibri"/>
              </a:rPr>
              <a:t>rows deleted: deduped or quarantined</a:t>
            </a:r>
          </a:p>
        </p:txBody>
      </p:sp>
      <p:sp>
        <p:nvSpPr>
          <p:cNvPr id="20" name="Rounded Rectangle 19"/>
          <p:cNvSpPr/>
          <p:nvPr/>
        </p:nvSpPr>
        <p:spPr>
          <a:xfrm>
            <a:off x="8366760" y="5495544"/>
            <a:ext cx="3273552" cy="749808"/>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458200" y="5541264"/>
            <a:ext cx="1143000" cy="658368"/>
          </a:xfrm>
          <a:prstGeom prst="rect">
            <a:avLst/>
          </a:prstGeom>
          <a:noFill/>
        </p:spPr>
        <p:txBody>
          <a:bodyPr wrap="square" anchor="ctr" lIns="73152" rIns="73152" tIns="36576" bIns="36576">
            <a:spAutoFit/>
          </a:bodyPr>
          <a:lstStyle/>
          <a:p>
            <a:pPr algn="ctr">
              <a:lnSpc>
                <a:spcPct val="110000"/>
              </a:lnSpc>
            </a:pPr>
            <a:r>
              <a:rPr sz="2000" b="1" i="0">
                <a:solidFill>
                  <a:srgbClr val="11567F"/>
                </a:solidFill>
                <a:latin typeface="Calibri"/>
              </a:rPr>
              <a:t>100%</a:t>
            </a:r>
          </a:p>
        </p:txBody>
      </p:sp>
      <p:sp>
        <p:nvSpPr>
          <p:cNvPr id="22" name="TextBox 21"/>
          <p:cNvSpPr txBox="1"/>
          <p:nvPr/>
        </p:nvSpPr>
        <p:spPr>
          <a:xfrm>
            <a:off x="9601200" y="5541264"/>
            <a:ext cx="1965960" cy="658368"/>
          </a:xfrm>
          <a:prstGeom prst="rect">
            <a:avLst/>
          </a:prstGeom>
          <a:noFill/>
        </p:spPr>
        <p:txBody>
          <a:bodyPr wrap="square" anchor="ctr" lIns="73152" rIns="73152" tIns="36576" bIns="36576">
            <a:spAutoFit/>
          </a:bodyPr>
          <a:lstStyle/>
          <a:p>
            <a:pPr algn="l">
              <a:lnSpc>
                <a:spcPct val="110000"/>
              </a:lnSpc>
            </a:pPr>
            <a:r>
              <a:rPr sz="1200" b="0" i="0">
                <a:solidFill>
                  <a:srgbClr val="1F2D3D"/>
                </a:solidFill>
                <a:latin typeface="Calibri"/>
              </a:rPr>
              <a:t>of actions in the audit log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LIVE DEMO SURFACE</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The GuardianAI app: Streamlit in Snowflake</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11 / 12</a:t>
            </a:r>
          </a:p>
        </p:txBody>
      </p:sp>
      <p:sp>
        <p:nvSpPr>
          <p:cNvPr id="8" name="Rounded Rectangle 7"/>
          <p:cNvSpPr/>
          <p:nvPr/>
        </p:nvSpPr>
        <p:spPr>
          <a:xfrm>
            <a:off x="548640" y="1371600"/>
            <a:ext cx="306324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85800" y="1572768"/>
            <a:ext cx="457200" cy="45720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1</a:t>
            </a:r>
          </a:p>
        </p:txBody>
      </p:sp>
      <p:sp>
        <p:nvSpPr>
          <p:cNvPr id="10" name="TextBox 9"/>
          <p:cNvSpPr txBox="1"/>
          <p:nvPr/>
        </p:nvSpPr>
        <p:spPr>
          <a:xfrm>
            <a:off x="1261872" y="1435608"/>
            <a:ext cx="2286000" cy="347472"/>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Data Trust Overview</a:t>
            </a:r>
          </a:p>
        </p:txBody>
      </p:sp>
      <p:sp>
        <p:nvSpPr>
          <p:cNvPr id="11" name="TextBox 10"/>
          <p:cNvSpPr txBox="1"/>
          <p:nvPr/>
        </p:nvSpPr>
        <p:spPr>
          <a:xfrm>
            <a:off x="1261872" y="1755648"/>
            <a:ext cx="2286000" cy="475488"/>
          </a:xfrm>
          <a:prstGeom prst="rect">
            <a:avLst/>
          </a:prstGeom>
          <a:noFill/>
        </p:spPr>
        <p:txBody>
          <a:bodyPr wrap="square" anchor="t" lIns="73152" rIns="73152" tIns="36576" bIns="36576">
            <a:spAutoFit/>
          </a:bodyPr>
          <a:lstStyle/>
          <a:p>
            <a:pPr algn="l">
              <a:lnSpc>
                <a:spcPct val="100000"/>
              </a:lnSpc>
            </a:pPr>
            <a:r>
              <a:rPr sz="1100" b="0" i="0">
                <a:solidFill>
                  <a:srgbClr val="5B6B7F"/>
                </a:solidFill>
                <a:latin typeface="Calibri"/>
              </a:rPr>
              <a:t>Live trust score, per-table risk, before → after.</a:t>
            </a:r>
          </a:p>
        </p:txBody>
      </p:sp>
      <p:sp>
        <p:nvSpPr>
          <p:cNvPr id="12" name="Rounded Rectangle 11"/>
          <p:cNvSpPr/>
          <p:nvPr/>
        </p:nvSpPr>
        <p:spPr>
          <a:xfrm>
            <a:off x="548640" y="2359152"/>
            <a:ext cx="306324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85800" y="2560320"/>
            <a:ext cx="457200" cy="45720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2</a:t>
            </a:r>
          </a:p>
        </p:txBody>
      </p:sp>
      <p:sp>
        <p:nvSpPr>
          <p:cNvPr id="14" name="TextBox 13"/>
          <p:cNvSpPr txBox="1"/>
          <p:nvPr/>
        </p:nvSpPr>
        <p:spPr>
          <a:xfrm>
            <a:off x="1261872" y="2423160"/>
            <a:ext cx="2286000" cy="347472"/>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Findings Explorer</a:t>
            </a:r>
          </a:p>
        </p:txBody>
      </p:sp>
      <p:sp>
        <p:nvSpPr>
          <p:cNvPr id="15" name="TextBox 14"/>
          <p:cNvSpPr txBox="1"/>
          <p:nvPr/>
        </p:nvSpPr>
        <p:spPr>
          <a:xfrm>
            <a:off x="1261872" y="2743200"/>
            <a:ext cx="2286000" cy="475488"/>
          </a:xfrm>
          <a:prstGeom prst="rect">
            <a:avLst/>
          </a:prstGeom>
          <a:noFill/>
        </p:spPr>
        <p:txBody>
          <a:bodyPr wrap="square" anchor="t" lIns="73152" rIns="73152" tIns="36576" bIns="36576">
            <a:spAutoFit/>
          </a:bodyPr>
          <a:lstStyle/>
          <a:p>
            <a:pPr algn="l">
              <a:lnSpc>
                <a:spcPct val="100000"/>
              </a:lnSpc>
            </a:pPr>
            <a:r>
              <a:rPr sz="1100" b="0" i="0">
                <a:solidFill>
                  <a:srgbClr val="5B6B7F"/>
                </a:solidFill>
                <a:latin typeface="Calibri"/>
              </a:rPr>
              <a:t>Every issue, filterable by severity and table.</a:t>
            </a:r>
          </a:p>
        </p:txBody>
      </p:sp>
      <p:sp>
        <p:nvSpPr>
          <p:cNvPr id="16" name="Rounded Rectangle 15"/>
          <p:cNvSpPr/>
          <p:nvPr/>
        </p:nvSpPr>
        <p:spPr>
          <a:xfrm>
            <a:off x="548640" y="3346704"/>
            <a:ext cx="306324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85800" y="3547872"/>
            <a:ext cx="457200" cy="45720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3</a:t>
            </a:r>
          </a:p>
        </p:txBody>
      </p:sp>
      <p:sp>
        <p:nvSpPr>
          <p:cNvPr id="18" name="TextBox 17"/>
          <p:cNvSpPr txBox="1"/>
          <p:nvPr/>
        </p:nvSpPr>
        <p:spPr>
          <a:xfrm>
            <a:off x="1261872" y="3410712"/>
            <a:ext cx="2286000" cy="347472"/>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AI Investigation</a:t>
            </a:r>
          </a:p>
        </p:txBody>
      </p:sp>
      <p:sp>
        <p:nvSpPr>
          <p:cNvPr id="19" name="TextBox 18"/>
          <p:cNvSpPr txBox="1"/>
          <p:nvPr/>
        </p:nvSpPr>
        <p:spPr>
          <a:xfrm>
            <a:off x="1261872" y="3730752"/>
            <a:ext cx="2286000" cy="475488"/>
          </a:xfrm>
          <a:prstGeom prst="rect">
            <a:avLst/>
          </a:prstGeom>
          <a:noFill/>
        </p:spPr>
        <p:txBody>
          <a:bodyPr wrap="square" anchor="t" lIns="73152" rIns="73152" tIns="36576" bIns="36576">
            <a:spAutoFit/>
          </a:bodyPr>
          <a:lstStyle/>
          <a:p>
            <a:pPr algn="l">
              <a:lnSpc>
                <a:spcPct val="100000"/>
              </a:lnSpc>
            </a:pPr>
            <a:r>
              <a:rPr sz="1100" b="0" i="0">
                <a:solidFill>
                  <a:srgbClr val="5B6B7F"/>
                </a:solidFill>
                <a:latin typeface="Calibri"/>
              </a:rPr>
              <a:t>Cortex root cause + business impact per issue.</a:t>
            </a:r>
          </a:p>
        </p:txBody>
      </p:sp>
      <p:sp>
        <p:nvSpPr>
          <p:cNvPr id="20" name="Rounded Rectangle 19"/>
          <p:cNvSpPr/>
          <p:nvPr/>
        </p:nvSpPr>
        <p:spPr>
          <a:xfrm>
            <a:off x="548640" y="4334256"/>
            <a:ext cx="306324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85800" y="4535424"/>
            <a:ext cx="457200" cy="45720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4</a:t>
            </a:r>
          </a:p>
        </p:txBody>
      </p:sp>
      <p:sp>
        <p:nvSpPr>
          <p:cNvPr id="22" name="TextBox 21"/>
          <p:cNvSpPr txBox="1"/>
          <p:nvPr/>
        </p:nvSpPr>
        <p:spPr>
          <a:xfrm>
            <a:off x="1261872" y="4398264"/>
            <a:ext cx="2286000" cy="347472"/>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Remediation Center</a:t>
            </a:r>
          </a:p>
        </p:txBody>
      </p:sp>
      <p:sp>
        <p:nvSpPr>
          <p:cNvPr id="23" name="TextBox 22"/>
          <p:cNvSpPr txBox="1"/>
          <p:nvPr/>
        </p:nvSpPr>
        <p:spPr>
          <a:xfrm>
            <a:off x="1261872" y="4718304"/>
            <a:ext cx="2286000" cy="475488"/>
          </a:xfrm>
          <a:prstGeom prst="rect">
            <a:avLst/>
          </a:prstGeom>
          <a:noFill/>
        </p:spPr>
        <p:txBody>
          <a:bodyPr wrap="square" anchor="t" lIns="73152" rIns="73152" tIns="36576" bIns="36576">
            <a:spAutoFit/>
          </a:bodyPr>
          <a:lstStyle/>
          <a:p>
            <a:pPr algn="l">
              <a:lnSpc>
                <a:spcPct val="100000"/>
              </a:lnSpc>
            </a:pPr>
            <a:r>
              <a:rPr sz="1100" b="0" i="0">
                <a:solidFill>
                  <a:srgbClr val="5B6B7F"/>
                </a:solidFill>
                <a:latin typeface="Calibri"/>
              </a:rPr>
              <a:t>Fix, confidence, risk and the approval gate.</a:t>
            </a:r>
          </a:p>
        </p:txBody>
      </p:sp>
      <p:sp>
        <p:nvSpPr>
          <p:cNvPr id="24" name="Rounded Rectangle 23"/>
          <p:cNvSpPr/>
          <p:nvPr/>
        </p:nvSpPr>
        <p:spPr>
          <a:xfrm>
            <a:off x="548640" y="5321808"/>
            <a:ext cx="3063240" cy="86868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85800" y="5522976"/>
            <a:ext cx="457200" cy="45720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5</a:t>
            </a:r>
          </a:p>
        </p:txBody>
      </p:sp>
      <p:sp>
        <p:nvSpPr>
          <p:cNvPr id="26" name="TextBox 25"/>
          <p:cNvSpPr txBox="1"/>
          <p:nvPr/>
        </p:nvSpPr>
        <p:spPr>
          <a:xfrm>
            <a:off x="1261872" y="5385816"/>
            <a:ext cx="2286000" cy="347472"/>
          </a:xfrm>
          <a:prstGeom prst="rect">
            <a:avLst/>
          </a:prstGeom>
          <a:noFill/>
        </p:spPr>
        <p:txBody>
          <a:bodyPr wrap="square" anchor="t" lIns="73152" rIns="73152" tIns="36576" bIns="36576">
            <a:spAutoFit/>
          </a:bodyPr>
          <a:lstStyle/>
          <a:p>
            <a:pPr algn="l">
              <a:lnSpc>
                <a:spcPct val="110000"/>
              </a:lnSpc>
            </a:pPr>
            <a:r>
              <a:rPr sz="1400" b="1" i="0">
                <a:solidFill>
                  <a:srgbClr val="0B2545"/>
                </a:solidFill>
                <a:latin typeface="Calibri"/>
              </a:rPr>
              <a:t>Governance Log</a:t>
            </a:r>
          </a:p>
        </p:txBody>
      </p:sp>
      <p:sp>
        <p:nvSpPr>
          <p:cNvPr id="27" name="TextBox 26"/>
          <p:cNvSpPr txBox="1"/>
          <p:nvPr/>
        </p:nvSpPr>
        <p:spPr>
          <a:xfrm>
            <a:off x="1261872" y="5705856"/>
            <a:ext cx="2286000" cy="475488"/>
          </a:xfrm>
          <a:prstGeom prst="rect">
            <a:avLst/>
          </a:prstGeom>
          <a:noFill/>
        </p:spPr>
        <p:txBody>
          <a:bodyPr wrap="square" anchor="t" lIns="73152" rIns="73152" tIns="36576" bIns="36576">
            <a:spAutoFit/>
          </a:bodyPr>
          <a:lstStyle/>
          <a:p>
            <a:pPr algn="l">
              <a:lnSpc>
                <a:spcPct val="100000"/>
              </a:lnSpc>
            </a:pPr>
            <a:r>
              <a:rPr sz="1100" b="0" i="0">
                <a:solidFill>
                  <a:srgbClr val="5B6B7F"/>
                </a:solidFill>
                <a:latin typeface="Calibri"/>
              </a:rPr>
              <a:t>Full audit trail of agent and human actions.</a:t>
            </a:r>
          </a:p>
        </p:txBody>
      </p:sp>
      <p:pic>
        <p:nvPicPr>
          <p:cNvPr id="28" name="Picture 27" descr="1. Data Trust Overview.png"/>
          <p:cNvPicPr>
            <a:picLocks noChangeAspect="1"/>
          </p:cNvPicPr>
          <p:nvPr/>
        </p:nvPicPr>
        <p:blipFill>
          <a:blip r:embed="rId2"/>
          <a:stretch>
            <a:fillRect/>
          </a:stretch>
        </p:blipFill>
        <p:spPr>
          <a:xfrm>
            <a:off x="3840480" y="1371600"/>
            <a:ext cx="3931920" cy="2304288"/>
          </a:xfrm>
          <a:prstGeom prst="rect">
            <a:avLst/>
          </a:prstGeom>
          <a:ln w="12700">
            <a:solidFill>
              <a:srgbClr val="D6E2EE"/>
            </a:solidFill>
          </a:ln>
        </p:spPr>
      </p:pic>
      <p:sp>
        <p:nvSpPr>
          <p:cNvPr id="29" name="TextBox 28"/>
          <p:cNvSpPr txBox="1"/>
          <p:nvPr/>
        </p:nvSpPr>
        <p:spPr>
          <a:xfrm>
            <a:off x="3840480" y="3694175"/>
            <a:ext cx="3931920" cy="274320"/>
          </a:xfrm>
          <a:prstGeom prst="rect">
            <a:avLst/>
          </a:prstGeom>
          <a:noFill/>
        </p:spPr>
        <p:txBody>
          <a:bodyPr wrap="square" anchor="t" lIns="73152" rIns="73152" tIns="36576" bIns="36576">
            <a:spAutoFit/>
          </a:bodyPr>
          <a:lstStyle/>
          <a:p>
            <a:pPr algn="ctr">
              <a:lnSpc>
                <a:spcPct val="110000"/>
              </a:lnSpc>
            </a:pPr>
            <a:r>
              <a:rPr sz="1100" b="1" i="0">
                <a:solidFill>
                  <a:srgbClr val="11567F"/>
                </a:solidFill>
                <a:latin typeface="Calibri"/>
              </a:rPr>
              <a:t>Data Trust Overview</a:t>
            </a:r>
          </a:p>
        </p:txBody>
      </p:sp>
      <p:pic>
        <p:nvPicPr>
          <p:cNvPr id="30" name="Picture 29" descr="3. Findings Explorer.png"/>
          <p:cNvPicPr>
            <a:picLocks noChangeAspect="1"/>
          </p:cNvPicPr>
          <p:nvPr/>
        </p:nvPicPr>
        <p:blipFill>
          <a:blip r:embed="rId3"/>
          <a:stretch>
            <a:fillRect/>
          </a:stretch>
        </p:blipFill>
        <p:spPr>
          <a:xfrm>
            <a:off x="7982712" y="1371600"/>
            <a:ext cx="3931920" cy="2304288"/>
          </a:xfrm>
          <a:prstGeom prst="rect">
            <a:avLst/>
          </a:prstGeom>
          <a:ln w="12700">
            <a:solidFill>
              <a:srgbClr val="D6E2EE"/>
            </a:solidFill>
          </a:ln>
        </p:spPr>
      </p:pic>
      <p:sp>
        <p:nvSpPr>
          <p:cNvPr id="31" name="TextBox 30"/>
          <p:cNvSpPr txBox="1"/>
          <p:nvPr/>
        </p:nvSpPr>
        <p:spPr>
          <a:xfrm>
            <a:off x="7982712" y="3694175"/>
            <a:ext cx="3931920" cy="274320"/>
          </a:xfrm>
          <a:prstGeom prst="rect">
            <a:avLst/>
          </a:prstGeom>
          <a:noFill/>
        </p:spPr>
        <p:txBody>
          <a:bodyPr wrap="square" anchor="t" lIns="73152" rIns="73152" tIns="36576" bIns="36576">
            <a:spAutoFit/>
          </a:bodyPr>
          <a:lstStyle/>
          <a:p>
            <a:pPr algn="ctr">
              <a:lnSpc>
                <a:spcPct val="110000"/>
              </a:lnSpc>
            </a:pPr>
            <a:r>
              <a:rPr sz="1100" b="1" i="0">
                <a:solidFill>
                  <a:srgbClr val="11567F"/>
                </a:solidFill>
                <a:latin typeface="Calibri"/>
              </a:rPr>
              <a:t>Findings Explorer</a:t>
            </a:r>
          </a:p>
        </p:txBody>
      </p:sp>
      <p:pic>
        <p:nvPicPr>
          <p:cNvPr id="32" name="Picture 31" descr="4. AI Investigation Center.png"/>
          <p:cNvPicPr>
            <a:picLocks noChangeAspect="1"/>
          </p:cNvPicPr>
          <p:nvPr/>
        </p:nvPicPr>
        <p:blipFill>
          <a:blip r:embed="rId4"/>
          <a:stretch>
            <a:fillRect/>
          </a:stretch>
        </p:blipFill>
        <p:spPr>
          <a:xfrm>
            <a:off x="3840480" y="4023360"/>
            <a:ext cx="3931920" cy="2304288"/>
          </a:xfrm>
          <a:prstGeom prst="rect">
            <a:avLst/>
          </a:prstGeom>
          <a:ln w="12700">
            <a:solidFill>
              <a:srgbClr val="D6E2EE"/>
            </a:solidFill>
          </a:ln>
        </p:spPr>
      </p:pic>
      <p:sp>
        <p:nvSpPr>
          <p:cNvPr id="33" name="TextBox 32"/>
          <p:cNvSpPr txBox="1"/>
          <p:nvPr/>
        </p:nvSpPr>
        <p:spPr>
          <a:xfrm>
            <a:off x="3840480" y="6345936"/>
            <a:ext cx="3931920" cy="274320"/>
          </a:xfrm>
          <a:prstGeom prst="rect">
            <a:avLst/>
          </a:prstGeom>
          <a:noFill/>
        </p:spPr>
        <p:txBody>
          <a:bodyPr wrap="square" anchor="t" lIns="73152" rIns="73152" tIns="36576" bIns="36576">
            <a:spAutoFit/>
          </a:bodyPr>
          <a:lstStyle/>
          <a:p>
            <a:pPr algn="ctr">
              <a:lnSpc>
                <a:spcPct val="110000"/>
              </a:lnSpc>
            </a:pPr>
            <a:r>
              <a:rPr sz="1100" b="1" i="0">
                <a:solidFill>
                  <a:srgbClr val="11567F"/>
                </a:solidFill>
                <a:latin typeface="Calibri"/>
              </a:rPr>
              <a:t>AI Investigation Center</a:t>
            </a:r>
          </a:p>
        </p:txBody>
      </p:sp>
      <p:pic>
        <p:nvPicPr>
          <p:cNvPr id="34" name="Picture 33" descr="5. Remediation Center.png"/>
          <p:cNvPicPr>
            <a:picLocks noChangeAspect="1"/>
          </p:cNvPicPr>
          <p:nvPr/>
        </p:nvPicPr>
        <p:blipFill>
          <a:blip r:embed="rId5"/>
          <a:stretch>
            <a:fillRect/>
          </a:stretch>
        </p:blipFill>
        <p:spPr>
          <a:xfrm>
            <a:off x="7982712" y="4023360"/>
            <a:ext cx="3931920" cy="2304288"/>
          </a:xfrm>
          <a:prstGeom prst="rect">
            <a:avLst/>
          </a:prstGeom>
          <a:ln w="12700">
            <a:solidFill>
              <a:srgbClr val="D6E2EE"/>
            </a:solidFill>
          </a:ln>
        </p:spPr>
      </p:pic>
      <p:sp>
        <p:nvSpPr>
          <p:cNvPr id="35" name="TextBox 34"/>
          <p:cNvSpPr txBox="1"/>
          <p:nvPr/>
        </p:nvSpPr>
        <p:spPr>
          <a:xfrm>
            <a:off x="7982712" y="6345936"/>
            <a:ext cx="3931920" cy="274320"/>
          </a:xfrm>
          <a:prstGeom prst="rect">
            <a:avLst/>
          </a:prstGeom>
          <a:noFill/>
        </p:spPr>
        <p:txBody>
          <a:bodyPr wrap="square" anchor="t" lIns="73152" rIns="73152" tIns="36576" bIns="36576">
            <a:spAutoFit/>
          </a:bodyPr>
          <a:lstStyle/>
          <a:p>
            <a:pPr algn="ctr">
              <a:lnSpc>
                <a:spcPct val="110000"/>
              </a:lnSpc>
            </a:pPr>
            <a:r>
              <a:rPr sz="1100" b="1" i="0">
                <a:solidFill>
                  <a:srgbClr val="11567F"/>
                </a:solidFill>
                <a:latin typeface="Calibri"/>
              </a:rPr>
              <a:t>Remediation Center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548640" y="502920"/>
            <a:ext cx="82296" cy="566928"/>
          </a:xfrm>
          <a:prstGeom prst="rect">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49808" y="347472"/>
            <a:ext cx="9144000" cy="320040"/>
          </a:xfrm>
          <a:prstGeom prst="rect">
            <a:avLst/>
          </a:prstGeom>
          <a:noFill/>
        </p:spPr>
        <p:txBody>
          <a:bodyPr wrap="square" anchor="t" lIns="73152" rIns="73152" tIns="36576" bIns="36576">
            <a:spAutoFit/>
          </a:bodyPr>
          <a:lstStyle/>
          <a:p>
            <a:pPr algn="l">
              <a:lnSpc>
                <a:spcPct val="110000"/>
              </a:lnSpc>
            </a:pPr>
            <a:r>
              <a:rPr sz="1200" b="1" i="0">
                <a:solidFill>
                  <a:srgbClr val="11567F"/>
                </a:solidFill>
                <a:latin typeface="Calibri"/>
              </a:rPr>
              <a:t>STACK, ROADMAP &amp; THANKS</a:t>
            </a:r>
          </a:p>
        </p:txBody>
      </p:sp>
      <p:sp>
        <p:nvSpPr>
          <p:cNvPr id="4" name="TextBox 3"/>
          <p:cNvSpPr txBox="1"/>
          <p:nvPr/>
        </p:nvSpPr>
        <p:spPr>
          <a:xfrm>
            <a:off x="749808" y="566928"/>
            <a:ext cx="10789920" cy="640080"/>
          </a:xfrm>
          <a:prstGeom prst="rect">
            <a:avLst/>
          </a:prstGeom>
          <a:noFill/>
        </p:spPr>
        <p:txBody>
          <a:bodyPr wrap="square" anchor="t" lIns="73152" rIns="73152" tIns="36576" bIns="36576">
            <a:spAutoFit/>
          </a:bodyPr>
          <a:lstStyle/>
          <a:p>
            <a:pPr algn="l">
              <a:lnSpc>
                <a:spcPct val="110000"/>
              </a:lnSpc>
            </a:pPr>
            <a:r>
              <a:rPr sz="3000" b="1" i="0">
                <a:solidFill>
                  <a:srgbClr val="0B2545"/>
                </a:solidFill>
                <a:latin typeface="Calibri"/>
              </a:rPr>
              <a:t>Built on Snowflake, built to grow</a:t>
            </a:r>
          </a:p>
        </p:txBody>
      </p:sp>
      <p:sp>
        <p:nvSpPr>
          <p:cNvPr id="5" name="Rectangle 4"/>
          <p:cNvSpPr/>
          <p:nvPr/>
        </p:nvSpPr>
        <p:spPr>
          <a:xfrm>
            <a:off x="0" y="6510528"/>
            <a:ext cx="12191695" cy="347472"/>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6537960"/>
            <a:ext cx="8229600" cy="292608"/>
          </a:xfrm>
          <a:prstGeom prst="rect">
            <a:avLst/>
          </a:prstGeom>
          <a:noFill/>
        </p:spPr>
        <p:txBody>
          <a:bodyPr wrap="square" anchor="ctr" lIns="73152" rIns="73152" tIns="36576" bIns="36576">
            <a:spAutoFit/>
          </a:bodyPr>
          <a:lstStyle/>
          <a:p>
            <a:pPr algn="l">
              <a:lnSpc>
                <a:spcPct val="110000"/>
              </a:lnSpc>
            </a:pPr>
            <a:r>
              <a:rPr sz="1100" b="1" i="0">
                <a:solidFill>
                  <a:srgbClr val="FFFFFF"/>
                </a:solidFill>
                <a:latin typeface="Calibri"/>
              </a:rPr>
              <a:t>GuardianAI</a:t>
            </a:r>
            <a:r>
              <a:rPr sz="1100" b="0" i="0">
                <a:solidFill>
                  <a:srgbClr val="C9D6E6"/>
                </a:solidFill>
                <a:latin typeface="Calibri"/>
              </a:rPr>
              <a:t>   |   CoCo Quest 2026   |   Biswajit Jena</a:t>
            </a:r>
          </a:p>
        </p:txBody>
      </p:sp>
      <p:sp>
        <p:nvSpPr>
          <p:cNvPr id="7" name="TextBox 6"/>
          <p:cNvSpPr txBox="1"/>
          <p:nvPr/>
        </p:nvSpPr>
        <p:spPr>
          <a:xfrm>
            <a:off x="10698480" y="6537960"/>
            <a:ext cx="960120" cy="292608"/>
          </a:xfrm>
          <a:prstGeom prst="rect">
            <a:avLst/>
          </a:prstGeom>
          <a:noFill/>
        </p:spPr>
        <p:txBody>
          <a:bodyPr wrap="square" anchor="ctr" lIns="73152" rIns="73152" tIns="36576" bIns="36576">
            <a:spAutoFit/>
          </a:bodyPr>
          <a:lstStyle/>
          <a:p>
            <a:pPr algn="r">
              <a:lnSpc>
                <a:spcPct val="110000"/>
              </a:lnSpc>
            </a:pPr>
            <a:r>
              <a:rPr sz="1100" b="1" i="0">
                <a:solidFill>
                  <a:srgbClr val="29B5E8"/>
                </a:solidFill>
                <a:latin typeface="Calibri"/>
              </a:rPr>
              <a:t>12 / 12</a:t>
            </a:r>
          </a:p>
        </p:txBody>
      </p:sp>
      <p:sp>
        <p:nvSpPr>
          <p:cNvPr id="8" name="Rounded Rectangle 7"/>
          <p:cNvSpPr/>
          <p:nvPr/>
        </p:nvSpPr>
        <p:spPr>
          <a:xfrm>
            <a:off x="548640" y="1371600"/>
            <a:ext cx="5486400" cy="379476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7240" y="1508760"/>
            <a:ext cx="5029200" cy="365760"/>
          </a:xfrm>
          <a:prstGeom prst="rect">
            <a:avLst/>
          </a:prstGeom>
          <a:noFill/>
        </p:spPr>
        <p:txBody>
          <a:bodyPr wrap="square" anchor="t" lIns="73152" rIns="73152" tIns="36576" bIns="36576">
            <a:spAutoFit/>
          </a:bodyPr>
          <a:lstStyle/>
          <a:p>
            <a:pPr algn="l">
              <a:lnSpc>
                <a:spcPct val="110000"/>
              </a:lnSpc>
            </a:pPr>
            <a:r>
              <a:rPr sz="1800" b="1" i="0">
                <a:solidFill>
                  <a:srgbClr val="0B2545"/>
                </a:solidFill>
                <a:latin typeface="Calibri"/>
              </a:rPr>
              <a:t>Snowflake features used</a:t>
            </a:r>
          </a:p>
        </p:txBody>
      </p:sp>
      <p:sp>
        <p:nvSpPr>
          <p:cNvPr id="10" name="Rounded Rectangle 9"/>
          <p:cNvSpPr/>
          <p:nvPr/>
        </p:nvSpPr>
        <p:spPr>
          <a:xfrm>
            <a:off x="777240" y="1965960"/>
            <a:ext cx="2240280" cy="402336"/>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Snowflake Cortex</a:t>
            </a:r>
          </a:p>
        </p:txBody>
      </p:sp>
      <p:sp>
        <p:nvSpPr>
          <p:cNvPr id="11" name="TextBox 10"/>
          <p:cNvSpPr txBox="1"/>
          <p:nvPr/>
        </p:nvSpPr>
        <p:spPr>
          <a:xfrm>
            <a:off x="3108960" y="1965960"/>
            <a:ext cx="2834640" cy="402336"/>
          </a:xfrm>
          <a:prstGeom prst="rect">
            <a:avLst/>
          </a:prstGeom>
          <a:noFill/>
        </p:spPr>
        <p:txBody>
          <a:bodyPr wrap="square" anchor="ctr" lIns="73152" rIns="73152" tIns="36576" bIns="36576">
            <a:spAutoFit/>
          </a:bodyPr>
          <a:lstStyle/>
          <a:p>
            <a:pPr algn="l">
              <a:lnSpc>
                <a:spcPct val="110000"/>
              </a:lnSpc>
            </a:pPr>
            <a:r>
              <a:rPr sz="1300" b="0" i="0">
                <a:solidFill>
                  <a:srgbClr val="1F2D3D"/>
                </a:solidFill>
                <a:latin typeface="Calibri"/>
              </a:rPr>
              <a:t>CORTEX.COMPLETE (mistral-large2)</a:t>
            </a:r>
          </a:p>
        </p:txBody>
      </p:sp>
      <p:sp>
        <p:nvSpPr>
          <p:cNvPr id="12" name="Rounded Rectangle 11"/>
          <p:cNvSpPr/>
          <p:nvPr/>
        </p:nvSpPr>
        <p:spPr>
          <a:xfrm>
            <a:off x="777240" y="2487168"/>
            <a:ext cx="2240280" cy="402336"/>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Streams</a:t>
            </a:r>
          </a:p>
        </p:txBody>
      </p:sp>
      <p:sp>
        <p:nvSpPr>
          <p:cNvPr id="13" name="TextBox 12"/>
          <p:cNvSpPr txBox="1"/>
          <p:nvPr/>
        </p:nvSpPr>
        <p:spPr>
          <a:xfrm>
            <a:off x="3108960" y="2487168"/>
            <a:ext cx="2834640" cy="402336"/>
          </a:xfrm>
          <a:prstGeom prst="rect">
            <a:avLst/>
          </a:prstGeom>
          <a:noFill/>
        </p:spPr>
        <p:txBody>
          <a:bodyPr wrap="square" anchor="ctr" lIns="73152" rIns="73152" tIns="36576" bIns="36576">
            <a:spAutoFit/>
          </a:bodyPr>
          <a:lstStyle/>
          <a:p>
            <a:pPr algn="l">
              <a:lnSpc>
                <a:spcPct val="110000"/>
              </a:lnSpc>
            </a:pPr>
            <a:r>
              <a:rPr sz="1300" b="0" i="0">
                <a:solidFill>
                  <a:srgbClr val="1F2D3D"/>
                </a:solidFill>
                <a:latin typeface="Calibri"/>
              </a:rPr>
              <a:t>change data capture on new rows</a:t>
            </a:r>
          </a:p>
        </p:txBody>
      </p:sp>
      <p:sp>
        <p:nvSpPr>
          <p:cNvPr id="14" name="Rounded Rectangle 13"/>
          <p:cNvSpPr/>
          <p:nvPr/>
        </p:nvSpPr>
        <p:spPr>
          <a:xfrm>
            <a:off x="777240" y="3008376"/>
            <a:ext cx="2240280" cy="402336"/>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Tasks / DAG</a:t>
            </a:r>
          </a:p>
        </p:txBody>
      </p:sp>
      <p:sp>
        <p:nvSpPr>
          <p:cNvPr id="15" name="TextBox 14"/>
          <p:cNvSpPr txBox="1"/>
          <p:nvPr/>
        </p:nvSpPr>
        <p:spPr>
          <a:xfrm>
            <a:off x="3108960" y="3008376"/>
            <a:ext cx="2834640" cy="402336"/>
          </a:xfrm>
          <a:prstGeom prst="rect">
            <a:avLst/>
          </a:prstGeom>
          <a:noFill/>
        </p:spPr>
        <p:txBody>
          <a:bodyPr wrap="square" anchor="ctr" lIns="73152" rIns="73152" tIns="36576" bIns="36576">
            <a:spAutoFit/>
          </a:bodyPr>
          <a:lstStyle/>
          <a:p>
            <a:pPr algn="l">
              <a:lnSpc>
                <a:spcPct val="110000"/>
              </a:lnSpc>
            </a:pPr>
            <a:r>
              <a:rPr sz="1300" b="0" i="0">
                <a:solidFill>
                  <a:srgbClr val="1F2D3D"/>
                </a:solidFill>
                <a:latin typeface="Calibri"/>
              </a:rPr>
              <a:t>event-driven Loop A + Loop B</a:t>
            </a:r>
          </a:p>
        </p:txBody>
      </p:sp>
      <p:sp>
        <p:nvSpPr>
          <p:cNvPr id="16" name="Rounded Rectangle 15"/>
          <p:cNvSpPr/>
          <p:nvPr/>
        </p:nvSpPr>
        <p:spPr>
          <a:xfrm>
            <a:off x="777240" y="3529584"/>
            <a:ext cx="2240280" cy="402336"/>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Stored procedures</a:t>
            </a:r>
          </a:p>
        </p:txBody>
      </p:sp>
      <p:sp>
        <p:nvSpPr>
          <p:cNvPr id="17" name="TextBox 16"/>
          <p:cNvSpPr txBox="1"/>
          <p:nvPr/>
        </p:nvSpPr>
        <p:spPr>
          <a:xfrm>
            <a:off x="3108960" y="3529584"/>
            <a:ext cx="2834640" cy="402336"/>
          </a:xfrm>
          <a:prstGeom prst="rect">
            <a:avLst/>
          </a:prstGeom>
          <a:noFill/>
        </p:spPr>
        <p:txBody>
          <a:bodyPr wrap="square" anchor="ctr" lIns="73152" rIns="73152" tIns="36576" bIns="36576">
            <a:spAutoFit/>
          </a:bodyPr>
          <a:lstStyle/>
          <a:p>
            <a:pPr algn="l">
              <a:lnSpc>
                <a:spcPct val="110000"/>
              </a:lnSpc>
            </a:pPr>
            <a:r>
              <a:rPr sz="1300" b="0" i="0">
                <a:solidFill>
                  <a:srgbClr val="1F2D3D"/>
                </a:solidFill>
                <a:latin typeface="Calibri"/>
              </a:rPr>
              <a:t>agents as callable SQL units</a:t>
            </a:r>
          </a:p>
        </p:txBody>
      </p:sp>
      <p:sp>
        <p:nvSpPr>
          <p:cNvPr id="18" name="Rounded Rectangle 17"/>
          <p:cNvSpPr/>
          <p:nvPr/>
        </p:nvSpPr>
        <p:spPr>
          <a:xfrm>
            <a:off x="777240" y="4050791"/>
            <a:ext cx="2240280" cy="402336"/>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Streamlit in Snowflake</a:t>
            </a:r>
          </a:p>
        </p:txBody>
      </p:sp>
      <p:sp>
        <p:nvSpPr>
          <p:cNvPr id="19" name="TextBox 18"/>
          <p:cNvSpPr txBox="1"/>
          <p:nvPr/>
        </p:nvSpPr>
        <p:spPr>
          <a:xfrm>
            <a:off x="3108960" y="4050791"/>
            <a:ext cx="2834640" cy="402336"/>
          </a:xfrm>
          <a:prstGeom prst="rect">
            <a:avLst/>
          </a:prstGeom>
          <a:noFill/>
        </p:spPr>
        <p:txBody>
          <a:bodyPr wrap="square" anchor="ctr" lIns="73152" rIns="73152" tIns="36576" bIns="36576">
            <a:spAutoFit/>
          </a:bodyPr>
          <a:lstStyle/>
          <a:p>
            <a:pPr algn="l">
              <a:lnSpc>
                <a:spcPct val="110000"/>
              </a:lnSpc>
            </a:pPr>
            <a:r>
              <a:rPr sz="1300" b="0" i="0">
                <a:solidFill>
                  <a:srgbClr val="1F2D3D"/>
                </a:solidFill>
                <a:latin typeface="Calibri"/>
              </a:rPr>
              <a:t>5-page data trust app</a:t>
            </a:r>
          </a:p>
        </p:txBody>
      </p:sp>
      <p:sp>
        <p:nvSpPr>
          <p:cNvPr id="20" name="Rounded Rectangle 19"/>
          <p:cNvSpPr/>
          <p:nvPr/>
        </p:nvSpPr>
        <p:spPr>
          <a:xfrm>
            <a:off x="777240" y="4572000"/>
            <a:ext cx="2240280" cy="402336"/>
          </a:xfrm>
          <a:prstGeom prst="roundRect">
            <a:avLst>
              <a:gd name="adj" fmla="val 50000"/>
            </a:avLst>
          </a:prstGeom>
          <a:solidFill>
            <a:srgbClr val="E3F5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200" b="1" i="0">
                <a:solidFill>
                  <a:srgbClr val="11567F"/>
                </a:solidFill>
                <a:latin typeface="Calibri"/>
              </a:rPr>
              <a:t>Stages + Snowsight</a:t>
            </a:r>
          </a:p>
        </p:txBody>
      </p:sp>
      <p:sp>
        <p:nvSpPr>
          <p:cNvPr id="21" name="TextBox 20"/>
          <p:cNvSpPr txBox="1"/>
          <p:nvPr/>
        </p:nvSpPr>
        <p:spPr>
          <a:xfrm>
            <a:off x="3108960" y="4572000"/>
            <a:ext cx="2834640" cy="402336"/>
          </a:xfrm>
          <a:prstGeom prst="rect">
            <a:avLst/>
          </a:prstGeom>
          <a:noFill/>
        </p:spPr>
        <p:txBody>
          <a:bodyPr wrap="square" anchor="ctr" lIns="73152" rIns="73152" tIns="36576" bIns="36576">
            <a:spAutoFit/>
          </a:bodyPr>
          <a:lstStyle/>
          <a:p>
            <a:pPr algn="l">
              <a:lnSpc>
                <a:spcPct val="110000"/>
              </a:lnSpc>
            </a:pPr>
            <a:r>
              <a:rPr sz="1300" b="0" i="0">
                <a:solidFill>
                  <a:srgbClr val="1F2D3D"/>
                </a:solidFill>
                <a:latin typeface="Calibri"/>
              </a:rPr>
              <a:t>ingest and landing</a:t>
            </a:r>
          </a:p>
        </p:txBody>
      </p:sp>
      <p:sp>
        <p:nvSpPr>
          <p:cNvPr id="22" name="Rounded Rectangle 21"/>
          <p:cNvSpPr/>
          <p:nvPr/>
        </p:nvSpPr>
        <p:spPr>
          <a:xfrm>
            <a:off x="6263640" y="1371600"/>
            <a:ext cx="5376672" cy="3794760"/>
          </a:xfrm>
          <a:prstGeom prst="roundRect">
            <a:avLst>
              <a:gd name="adj" fmla="val 8000"/>
            </a:avLst>
          </a:prstGeom>
          <a:solidFill>
            <a:srgbClr val="FFFFFF"/>
          </a:solidFill>
          <a:ln w="12700">
            <a:solidFill>
              <a:srgbClr val="D6E2E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2240" y="1508760"/>
            <a:ext cx="4937760" cy="365760"/>
          </a:xfrm>
          <a:prstGeom prst="rect">
            <a:avLst/>
          </a:prstGeom>
          <a:noFill/>
        </p:spPr>
        <p:txBody>
          <a:bodyPr wrap="square" anchor="t" lIns="73152" rIns="73152" tIns="36576" bIns="36576">
            <a:spAutoFit/>
          </a:bodyPr>
          <a:lstStyle/>
          <a:p>
            <a:pPr algn="l">
              <a:lnSpc>
                <a:spcPct val="110000"/>
              </a:lnSpc>
            </a:pPr>
            <a:r>
              <a:rPr sz="1800" b="1" i="0">
                <a:solidFill>
                  <a:srgbClr val="0B2545"/>
                </a:solidFill>
                <a:latin typeface="Calibri"/>
              </a:rPr>
              <a:t>Roadmap</a:t>
            </a:r>
          </a:p>
        </p:txBody>
      </p:sp>
      <p:sp>
        <p:nvSpPr>
          <p:cNvPr id="24" name="Oval 23"/>
          <p:cNvSpPr/>
          <p:nvPr/>
        </p:nvSpPr>
        <p:spPr>
          <a:xfrm>
            <a:off x="6492240" y="2084832"/>
            <a:ext cx="457200" cy="457200"/>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1</a:t>
            </a:r>
          </a:p>
        </p:txBody>
      </p:sp>
      <p:sp>
        <p:nvSpPr>
          <p:cNvPr id="25" name="TextBox 24"/>
          <p:cNvSpPr txBox="1"/>
          <p:nvPr/>
        </p:nvSpPr>
        <p:spPr>
          <a:xfrm>
            <a:off x="7086600" y="2011680"/>
            <a:ext cx="438912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Scheduled autonomous scans</a:t>
            </a:r>
          </a:p>
        </p:txBody>
      </p:sp>
      <p:sp>
        <p:nvSpPr>
          <p:cNvPr id="26" name="TextBox 25"/>
          <p:cNvSpPr txBox="1"/>
          <p:nvPr/>
        </p:nvSpPr>
        <p:spPr>
          <a:xfrm>
            <a:off x="7086600" y="2377440"/>
            <a:ext cx="438912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with Slack / Teams alerts on new criticals</a:t>
            </a:r>
          </a:p>
        </p:txBody>
      </p:sp>
      <p:sp>
        <p:nvSpPr>
          <p:cNvPr id="27" name="Oval 26"/>
          <p:cNvSpPr/>
          <p:nvPr/>
        </p:nvSpPr>
        <p:spPr>
          <a:xfrm>
            <a:off x="6492240" y="3108960"/>
            <a:ext cx="457200" cy="457200"/>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2</a:t>
            </a:r>
          </a:p>
        </p:txBody>
      </p:sp>
      <p:sp>
        <p:nvSpPr>
          <p:cNvPr id="28" name="TextBox 27"/>
          <p:cNvSpPr txBox="1"/>
          <p:nvPr/>
        </p:nvSpPr>
        <p:spPr>
          <a:xfrm>
            <a:off x="7086600" y="3035808"/>
            <a:ext cx="438912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Learned severity weighting</a:t>
            </a:r>
          </a:p>
        </p:txBody>
      </p:sp>
      <p:sp>
        <p:nvSpPr>
          <p:cNvPr id="29" name="TextBox 28"/>
          <p:cNvSpPr txBox="1"/>
          <p:nvPr/>
        </p:nvSpPr>
        <p:spPr>
          <a:xfrm>
            <a:off x="7086600" y="3401568"/>
            <a:ext cx="438912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tuned from historical approvals</a:t>
            </a:r>
          </a:p>
        </p:txBody>
      </p:sp>
      <p:sp>
        <p:nvSpPr>
          <p:cNvPr id="30" name="Oval 29"/>
          <p:cNvSpPr/>
          <p:nvPr/>
        </p:nvSpPr>
        <p:spPr>
          <a:xfrm>
            <a:off x="6492240" y="4133088"/>
            <a:ext cx="457200" cy="457200"/>
          </a:xfrm>
          <a:prstGeom prst="ellipse">
            <a:avLst/>
          </a:prstGeom>
          <a:solidFill>
            <a:srgbClr val="29B5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0000"/>
              </a:lnSpc>
            </a:pPr>
            <a:r>
              <a:rPr sz="1400" b="1" i="0">
                <a:solidFill>
                  <a:srgbClr val="FFFFFF"/>
                </a:solidFill>
                <a:latin typeface="Calibri"/>
              </a:rPr>
              <a:t>3</a:t>
            </a:r>
          </a:p>
        </p:txBody>
      </p:sp>
      <p:sp>
        <p:nvSpPr>
          <p:cNvPr id="31" name="TextBox 30"/>
          <p:cNvSpPr txBox="1"/>
          <p:nvPr/>
        </p:nvSpPr>
        <p:spPr>
          <a:xfrm>
            <a:off x="7086600" y="4059936"/>
            <a:ext cx="4389120" cy="365760"/>
          </a:xfrm>
          <a:prstGeom prst="rect">
            <a:avLst/>
          </a:prstGeom>
          <a:noFill/>
        </p:spPr>
        <p:txBody>
          <a:bodyPr wrap="square" anchor="t" lIns="73152" rIns="73152" tIns="36576" bIns="36576">
            <a:spAutoFit/>
          </a:bodyPr>
          <a:lstStyle/>
          <a:p>
            <a:pPr algn="l">
              <a:lnSpc>
                <a:spcPct val="110000"/>
              </a:lnSpc>
            </a:pPr>
            <a:r>
              <a:rPr sz="1600" b="1" i="0">
                <a:solidFill>
                  <a:srgbClr val="0B2545"/>
                </a:solidFill>
                <a:latin typeface="Calibri"/>
              </a:rPr>
              <a:t>Data contracts</a:t>
            </a:r>
          </a:p>
        </p:txBody>
      </p:sp>
      <p:sp>
        <p:nvSpPr>
          <p:cNvPr id="32" name="TextBox 31"/>
          <p:cNvSpPr txBox="1"/>
          <p:nvPr/>
        </p:nvSpPr>
        <p:spPr>
          <a:xfrm>
            <a:off x="7086600" y="4425696"/>
            <a:ext cx="4389120" cy="411480"/>
          </a:xfrm>
          <a:prstGeom prst="rect">
            <a:avLst/>
          </a:prstGeom>
          <a:noFill/>
        </p:spPr>
        <p:txBody>
          <a:bodyPr wrap="square" anchor="t" lIns="73152" rIns="73152" tIns="36576" bIns="36576">
            <a:spAutoFit/>
          </a:bodyPr>
          <a:lstStyle/>
          <a:p>
            <a:pPr algn="l">
              <a:lnSpc>
                <a:spcPct val="110000"/>
              </a:lnSpc>
            </a:pPr>
            <a:r>
              <a:rPr sz="1300" b="0" i="0">
                <a:solidFill>
                  <a:srgbClr val="5B6B7F"/>
                </a:solidFill>
                <a:latin typeface="Calibri"/>
              </a:rPr>
              <a:t>+ upstream prevention, not just repair</a:t>
            </a:r>
          </a:p>
        </p:txBody>
      </p:sp>
      <p:sp>
        <p:nvSpPr>
          <p:cNvPr id="33" name="Rounded Rectangle 32"/>
          <p:cNvSpPr/>
          <p:nvPr/>
        </p:nvSpPr>
        <p:spPr>
          <a:xfrm>
            <a:off x="548640" y="5394960"/>
            <a:ext cx="11091672" cy="914400"/>
          </a:xfrm>
          <a:prstGeom prst="roundRect">
            <a:avLst>
              <a:gd name="adj" fmla="val 8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 y="5468112"/>
            <a:ext cx="7315200" cy="777240"/>
          </a:xfrm>
          <a:prstGeom prst="rect">
            <a:avLst/>
          </a:prstGeom>
          <a:noFill/>
        </p:spPr>
        <p:txBody>
          <a:bodyPr wrap="square" anchor="ctr" lIns="73152" rIns="73152" tIns="36576" bIns="36576">
            <a:spAutoFit/>
          </a:bodyPr>
          <a:lstStyle/>
          <a:p>
            <a:pPr algn="l">
              <a:lnSpc>
                <a:spcPct val="100000"/>
              </a:lnSpc>
            </a:pPr>
            <a:r>
              <a:rPr sz="2600" b="1" i="0">
                <a:solidFill>
                  <a:srgbClr val="FFFFFF"/>
                </a:solidFill>
                <a:latin typeface="Calibri"/>
              </a:rPr>
              <a:t>Thank you</a:t>
            </a:r>
          </a:p>
          <a:p>
            <a:pPr algn="l">
              <a:lnSpc>
                <a:spcPct val="100000"/>
              </a:lnSpc>
            </a:pPr>
            <a:r>
              <a:rPr sz="1400" b="0" i="0">
                <a:solidFill>
                  <a:srgbClr val="C9D6E6"/>
                </a:solidFill>
                <a:latin typeface="Calibri"/>
              </a:rPr>
              <a:t>GuardianAI turns messy data into trusted data, safely.</a:t>
            </a:r>
          </a:p>
        </p:txBody>
      </p:sp>
      <p:sp>
        <p:nvSpPr>
          <p:cNvPr id="35" name="TextBox 34"/>
          <p:cNvSpPr txBox="1"/>
          <p:nvPr/>
        </p:nvSpPr>
        <p:spPr>
          <a:xfrm>
            <a:off x="8138160" y="5468112"/>
            <a:ext cx="3291840" cy="777240"/>
          </a:xfrm>
          <a:prstGeom prst="rect">
            <a:avLst/>
          </a:prstGeom>
          <a:noFill/>
        </p:spPr>
        <p:txBody>
          <a:bodyPr wrap="square" anchor="ctr" lIns="73152" rIns="73152" tIns="36576" bIns="36576">
            <a:spAutoFit/>
          </a:bodyPr>
          <a:lstStyle/>
          <a:p>
            <a:pPr algn="r">
              <a:lnSpc>
                <a:spcPct val="100000"/>
              </a:lnSpc>
            </a:pPr>
            <a:r>
              <a:rPr sz="1800" b="1" i="0">
                <a:solidFill>
                  <a:srgbClr val="29B5E8"/>
                </a:solidFill>
                <a:latin typeface="Calibri"/>
              </a:rPr>
              <a:t>Biswajit Jena</a:t>
            </a:r>
          </a:p>
          <a:p>
            <a:pPr algn="r">
              <a:lnSpc>
                <a:spcPct val="100000"/>
              </a:lnSpc>
            </a:pPr>
            <a:r>
              <a:rPr sz="1200" b="0" i="0">
                <a:solidFill>
                  <a:srgbClr val="C9D6E6"/>
                </a:solidFill>
                <a:latin typeface="Calibri"/>
              </a:rPr>
              <a:t>CoCo Quest 2026  |  Theme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